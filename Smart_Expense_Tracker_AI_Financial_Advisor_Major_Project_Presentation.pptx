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658368"/>
            <a:ext cx="2286000" cy="274320"/>
          </a:xfrm>
          <a:prstGeom prst="roundRect">
            <a:avLst/>
          </a:prstGeom>
          <a:solidFill>
            <a:srgbClr val="164E63"/>
          </a:solidFill>
          <a:ln w="12700">
            <a:solidFill>
              <a:srgbClr val="164E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94944" y="676656"/>
            <a:ext cx="221284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8FE8D5"/>
                </a:solidFill>
                <a:latin typeface="Arial"/>
              </a:rPr>
              <a:t>MAJOR PROJECT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08760"/>
            <a:ext cx="77724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rial"/>
              </a:rPr>
              <a:t>Smart Expense Tracker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84831"/>
            <a:ext cx="78638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>
                <a:solidFill>
                  <a:srgbClr val="8FE8D5"/>
                </a:solidFill>
                <a:latin typeface="Arial"/>
              </a:rPr>
              <a:t>with AI Financial Advisor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871216"/>
            <a:ext cx="66751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0">
                <a:solidFill>
                  <a:srgbClr val="D9E2EC"/>
                </a:solidFill>
                <a:latin typeface="Arial"/>
              </a:rPr>
              <a:t>A full-stack web application for income, expenses, budgeting, analytics, reporting and AI-assisted financial guidance.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4160520"/>
            <a:ext cx="896112" cy="822960"/>
          </a:xfrm>
          <a:prstGeom prst="roundRect">
            <a:avLst/>
          </a:prstGeom>
          <a:solidFill>
            <a:srgbClr val="173B5A"/>
          </a:solidFill>
          <a:ln w="12700">
            <a:solidFill>
              <a:srgbClr val="245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0" y="4425696"/>
            <a:ext cx="804672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React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531352" y="4572000"/>
            <a:ext cx="173736" cy="0"/>
          </a:xfrm>
          <a:prstGeom prst="line">
            <a:avLst/>
          </a:prstGeom>
          <a:ln w="19050">
            <a:solidFill>
              <a:srgbClr val="60A5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714232" y="4160520"/>
            <a:ext cx="896112" cy="822960"/>
          </a:xfrm>
          <a:prstGeom prst="roundRect">
            <a:avLst/>
          </a:prstGeom>
          <a:solidFill>
            <a:srgbClr val="173B5A"/>
          </a:solidFill>
          <a:ln w="12700">
            <a:solidFill>
              <a:srgbClr val="245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59952" y="4425696"/>
            <a:ext cx="804672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REST 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610344" y="4572000"/>
            <a:ext cx="173736" cy="0"/>
          </a:xfrm>
          <a:prstGeom prst="line">
            <a:avLst/>
          </a:prstGeom>
          <a:ln w="19050">
            <a:solidFill>
              <a:srgbClr val="60A5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793224" y="4160520"/>
            <a:ext cx="896112" cy="822960"/>
          </a:xfrm>
          <a:prstGeom prst="roundRect">
            <a:avLst/>
          </a:prstGeom>
          <a:solidFill>
            <a:srgbClr val="173B5A"/>
          </a:solidFill>
          <a:ln w="12700">
            <a:solidFill>
              <a:srgbClr val="245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838944" y="4425696"/>
            <a:ext cx="804672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Spring Boot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689336" y="4572000"/>
            <a:ext cx="173736" cy="0"/>
          </a:xfrm>
          <a:prstGeom prst="line">
            <a:avLst/>
          </a:prstGeom>
          <a:ln w="19050">
            <a:solidFill>
              <a:srgbClr val="60A5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872216" y="4160520"/>
            <a:ext cx="896112" cy="822960"/>
          </a:xfrm>
          <a:prstGeom prst="roundRect">
            <a:avLst/>
          </a:prstGeom>
          <a:solidFill>
            <a:srgbClr val="173B5A"/>
          </a:solidFill>
          <a:ln w="12700">
            <a:solidFill>
              <a:srgbClr val="245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917936" y="4425696"/>
            <a:ext cx="804672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MySQL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5321808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19" b="0">
                <a:solidFill>
                  <a:srgbClr val="BCCCDC"/>
                </a:solidFill>
                <a:latin typeface="Arial"/>
              </a:rPr>
              <a:t>Presented by: ____________________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0520" y="5321808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19" b="0">
                <a:solidFill>
                  <a:srgbClr val="BCCCDC"/>
                </a:solidFill>
                <a:latin typeface="Arial"/>
              </a:rPr>
              <a:t>Guided by: ____________________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779008"/>
            <a:ext cx="758952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BCCCDC"/>
                </a:solidFill>
                <a:latin typeface="Arial"/>
              </a:rPr>
              <a:t>Computer Science &amp; Engineering – AIML  |  Session 2026–27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062472"/>
            <a:ext cx="640080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9FB3C8"/>
                </a:solidFill>
                <a:latin typeface="Arial"/>
              </a:rPr>
              <a:t>Lloyd Institute of Engineering &amp;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2563EB"/>
                </a:solidFill>
                <a:latin typeface="Arial"/>
              </a:rPr>
              <a:t>01 · WHY THIS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21207"/>
            <a:ext cx="11064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>
                <a:solidFill>
                  <a:srgbClr val="102A43"/>
                </a:solidFill>
                <a:latin typeface="Arial"/>
              </a:rPr>
              <a:t>Problem &amp; Motivation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78992"/>
            <a:ext cx="11201400" cy="0"/>
          </a:xfrm>
          <a:prstGeom prst="line">
            <a:avLst/>
          </a:prstGeom>
          <a:ln w="1270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0" y="6510528"/>
            <a:ext cx="12143232" cy="256032"/>
          </a:xfrm>
          <a:prstGeom prst="rect">
            <a:avLst/>
          </a:prstGeom>
          <a:solidFill>
            <a:srgbClr val="102A43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6547104"/>
            <a:ext cx="7772400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>
                <a:solidFill>
                  <a:srgbClr val="D9E2EC"/>
                </a:solidFill>
                <a:latin typeface="Arial"/>
              </a:rPr>
              <a:t>Smart Expense Tracker with AI Financial Advisor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547104"/>
            <a:ext cx="1051560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>
                <a:solidFill>
                  <a:srgbClr val="D9E2EC"/>
                </a:solidFill>
                <a:latin typeface="Arial"/>
              </a:rPr>
              <a:t>Major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22608" y="6547104"/>
            <a:ext cx="201168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>
                <a:solidFill>
                  <a:srgbClr val="D9E2EC"/>
                </a:solidFill>
                <a:latin typeface="Arial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89888"/>
            <a:ext cx="5349240" cy="461772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22960" y="1664208"/>
            <a:ext cx="1143000" cy="27432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1682496"/>
            <a:ext cx="106984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D97706"/>
                </a:solidFill>
                <a:latin typeface="Arial"/>
              </a:rPr>
              <a:t>THE 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121408"/>
            <a:ext cx="44805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100" b="1">
                <a:solidFill>
                  <a:srgbClr val="102A43"/>
                </a:solidFill>
                <a:latin typeface="Arial"/>
              </a:rPr>
              <a:t>Personal finance information is often scattered.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2907791"/>
            <a:ext cx="73152" cy="7315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78408" y="2788920"/>
            <a:ext cx="42336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0">
                <a:solidFill>
                  <a:srgbClr val="243B53"/>
                </a:solidFill>
                <a:latin typeface="Arial"/>
              </a:rPr>
              <a:t>Income and expenses may be tracked separately.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3438144"/>
            <a:ext cx="73152" cy="7315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78408" y="3319272"/>
            <a:ext cx="42336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0">
                <a:solidFill>
                  <a:srgbClr val="243B53"/>
                </a:solidFill>
                <a:latin typeface="Arial"/>
              </a:rPr>
              <a:t>Budget limits are difficult to compare with actual spending.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3968496"/>
            <a:ext cx="73152" cy="7315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8408" y="3849624"/>
            <a:ext cx="42336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0">
                <a:solidFill>
                  <a:srgbClr val="243B53"/>
                </a:solidFill>
                <a:latin typeface="Arial"/>
              </a:rPr>
              <a:t>Spending trends are hard to interpret from raw records.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4498847"/>
            <a:ext cx="73152" cy="7315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78408" y="4379975"/>
            <a:ext cx="42336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0">
                <a:solidFill>
                  <a:srgbClr val="243B53"/>
                </a:solidFill>
                <a:latin typeface="Arial"/>
              </a:rPr>
              <a:t>Reports can require manual preparation.</a:t>
            </a:r>
          </a:p>
        </p:txBody>
      </p:sp>
      <p:sp>
        <p:nvSpPr>
          <p:cNvPr id="21" name="Oval 20"/>
          <p:cNvSpPr/>
          <p:nvPr/>
        </p:nvSpPr>
        <p:spPr>
          <a:xfrm>
            <a:off x="822960" y="5029199"/>
            <a:ext cx="73152" cy="7315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78408" y="4910327"/>
            <a:ext cx="42336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0">
                <a:solidFill>
                  <a:srgbClr val="243B53"/>
                </a:solidFill>
                <a:latin typeface="Arial"/>
              </a:rPr>
              <a:t>Recorded data does not automatically become actionable guidance.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389888"/>
            <a:ext cx="5440680" cy="46177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19088" y="1664208"/>
            <a:ext cx="1417320" cy="2743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55664" y="1682496"/>
            <a:ext cx="134416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2563EB"/>
                </a:solidFill>
                <a:latin typeface="Arial"/>
              </a:rPr>
              <a:t>PROJECT RESPONSE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2121408"/>
            <a:ext cx="44805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100" b="1">
                <a:solidFill>
                  <a:srgbClr val="102A43"/>
                </a:solidFill>
                <a:latin typeface="Arial"/>
              </a:rPr>
              <a:t>One central web application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9088" y="2770632"/>
            <a:ext cx="4434840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70" b="0">
                <a:solidFill>
                  <a:srgbClr val="243B53"/>
                </a:solidFill>
                <a:latin typeface="Arial"/>
              </a:rPr>
              <a:t>The system integrates record management, budgeting, analytics, reporting and AI-assisted guidance in one workflow.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19088" y="3822191"/>
            <a:ext cx="22860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47103" y="3931920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>
                <a:solidFill>
                  <a:srgbClr val="2563EB"/>
                </a:solidFill>
                <a:latin typeface="Arial"/>
              </a:rPr>
              <a:t>TRACK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3" y="4187952"/>
            <a:ext cx="196596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30" b="1">
                <a:solidFill>
                  <a:srgbClr val="102A43"/>
                </a:solidFill>
                <a:latin typeface="Arial"/>
              </a:rPr>
              <a:t>Income + Expenses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33688" y="3822191"/>
            <a:ext cx="22860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061704" y="3931920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>
                <a:solidFill>
                  <a:srgbClr val="0EA5A8"/>
                </a:solidFill>
                <a:latin typeface="Arial"/>
              </a:rPr>
              <a:t>PLAN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61704" y="4187952"/>
            <a:ext cx="196596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30" b="1">
                <a:solidFill>
                  <a:srgbClr val="102A43"/>
                </a:solidFill>
                <a:latin typeface="Arial"/>
              </a:rPr>
              <a:t>Budgets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19088" y="4754879"/>
            <a:ext cx="22860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47103" y="4864607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>
                <a:solidFill>
                  <a:srgbClr val="7C3AED"/>
                </a:solidFill>
                <a:latin typeface="Arial"/>
              </a:rPr>
              <a:t>UNDERSTAND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47103" y="5120640"/>
            <a:ext cx="196596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30" b="1">
                <a:solidFill>
                  <a:srgbClr val="102A43"/>
                </a:solidFill>
                <a:latin typeface="Arial"/>
              </a:rPr>
              <a:t>Analytics + Reports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33688" y="4754879"/>
            <a:ext cx="22860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061704" y="4864607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>
                <a:solidFill>
                  <a:srgbClr val="059669"/>
                </a:solidFill>
                <a:latin typeface="Arial"/>
              </a:rPr>
              <a:t>GUIDE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61704" y="5120640"/>
            <a:ext cx="196596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30" b="1">
                <a:solidFill>
                  <a:srgbClr val="102A43"/>
                </a:solidFill>
                <a:latin typeface="Arial"/>
              </a:rPr>
              <a:t>AI Advisor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2563EB"/>
                </a:solidFill>
                <a:latin typeface="Arial"/>
              </a:rPr>
              <a:t>02 · WHAT THE SYSTEM SHOULD ACHIEVE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21207"/>
            <a:ext cx="11064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>
                <a:solidFill>
                  <a:srgbClr val="102A43"/>
                </a:solidFill>
                <a:latin typeface="Arial"/>
              </a:rPr>
              <a:t>Aim &amp; Objectives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78992"/>
            <a:ext cx="11201400" cy="0"/>
          </a:xfrm>
          <a:prstGeom prst="line">
            <a:avLst/>
          </a:prstGeom>
          <a:ln w="1270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0" y="6510528"/>
            <a:ext cx="12143232" cy="256032"/>
          </a:xfrm>
          <a:prstGeom prst="rect">
            <a:avLst/>
          </a:prstGeom>
          <a:solidFill>
            <a:srgbClr val="102A43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6547104"/>
            <a:ext cx="7772400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>
                <a:solidFill>
                  <a:srgbClr val="D9E2EC"/>
                </a:solidFill>
                <a:latin typeface="Arial"/>
              </a:rPr>
              <a:t>Smart Expense Tracker with AI Financial Advisor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547104"/>
            <a:ext cx="1051560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>
                <a:solidFill>
                  <a:srgbClr val="D9E2EC"/>
                </a:solidFill>
                <a:latin typeface="Arial"/>
              </a:rPr>
              <a:t>Major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22608" y="6547104"/>
            <a:ext cx="201168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>
                <a:solidFill>
                  <a:srgbClr val="D9E2EC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389888"/>
            <a:ext cx="73152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Arial"/>
              </a:rPr>
              <a:t>Aim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700784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50" b="1">
                <a:solidFill>
                  <a:srgbClr val="102A43"/>
                </a:solidFill>
                <a:latin typeface="Arial"/>
              </a:rPr>
              <a:t>Build a practical full-stack personal finance platform that makes financial information easier to record, monitor, understand and act upon.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724912"/>
            <a:ext cx="349300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40664" y="2880360"/>
            <a:ext cx="457200" cy="27432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2898648"/>
            <a:ext cx="38404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07592" y="2880360"/>
            <a:ext cx="256032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20" b="1">
                <a:solidFill>
                  <a:srgbClr val="102A43"/>
                </a:solidFill>
                <a:latin typeface="Arial"/>
              </a:rPr>
              <a:t>Authentication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2918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40" b="0">
                <a:solidFill>
                  <a:srgbClr val="627D98"/>
                </a:solidFill>
                <a:latin typeface="Arial"/>
              </a:rPr>
              <a:t>Registration, login, logout and protected navigation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16552" y="2724912"/>
            <a:ext cx="349300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562856" y="2880360"/>
            <a:ext cx="457200" cy="27432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99432" y="2898648"/>
            <a:ext cx="38404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9784" y="2880360"/>
            <a:ext cx="256032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20" b="1">
                <a:solidFill>
                  <a:srgbClr val="102A43"/>
                </a:solidFill>
                <a:latin typeface="Arial"/>
              </a:rPr>
              <a:t>Transaction management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2918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40" b="0">
                <a:solidFill>
                  <a:srgbClr val="627D98"/>
                </a:solidFill>
                <a:latin typeface="Arial"/>
              </a:rPr>
              <a:t>Create, edit, search and delete income and expense records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38744" y="2724912"/>
            <a:ext cx="349300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385048" y="2880360"/>
            <a:ext cx="457200" cy="27432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21624" y="2898648"/>
            <a:ext cx="38404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51976" y="2880360"/>
            <a:ext cx="256032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20" b="1">
                <a:solidFill>
                  <a:srgbClr val="102A43"/>
                </a:solidFill>
                <a:latin typeface="Arial"/>
              </a:rPr>
              <a:t>Budget monitoring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32918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40" b="0">
                <a:solidFill>
                  <a:srgbClr val="627D98"/>
                </a:solidFill>
                <a:latin typeface="Arial"/>
              </a:rPr>
              <a:t>Category/month/year budgets with actual-vs-planned tracking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4224528"/>
            <a:ext cx="349300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740664" y="4379976"/>
            <a:ext cx="457200" cy="27432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7240" y="4398264"/>
            <a:ext cx="38404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07592" y="4379976"/>
            <a:ext cx="256032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20" b="1">
                <a:solidFill>
                  <a:srgbClr val="102A43"/>
                </a:solidFill>
                <a:latin typeface="Arial"/>
              </a:rPr>
              <a:t>Analytics &amp; reports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791456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40" b="0">
                <a:solidFill>
                  <a:srgbClr val="627D98"/>
                </a:solidFill>
                <a:latin typeface="Arial"/>
              </a:rPr>
              <a:t>Dashboard summaries plus PDF and Excel exports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16552" y="4224528"/>
            <a:ext cx="349300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562856" y="4379976"/>
            <a:ext cx="457200" cy="27432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99432" y="4398264"/>
            <a:ext cx="38404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9784" y="4379976"/>
            <a:ext cx="256032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20" b="1">
                <a:solidFill>
                  <a:srgbClr val="102A43"/>
                </a:solidFill>
                <a:latin typeface="Arial"/>
              </a:rPr>
              <a:t>AI Financial Advisor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791456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40" b="0">
                <a:solidFill>
                  <a:srgbClr val="627D98"/>
                </a:solidFill>
                <a:latin typeface="Arial"/>
              </a:rPr>
              <a:t>Contextual recommendations with a local fallback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38744" y="4224528"/>
            <a:ext cx="349300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8385048" y="4379976"/>
            <a:ext cx="457200" cy="27432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421624" y="4398264"/>
            <a:ext cx="38404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51976" y="4379976"/>
            <a:ext cx="256032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20" b="1">
                <a:solidFill>
                  <a:srgbClr val="102A43"/>
                </a:solidFill>
                <a:latin typeface="Arial"/>
              </a:rPr>
              <a:t>Data protection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94192" y="4791456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40" b="0">
                <a:solidFill>
                  <a:srgbClr val="627D98"/>
                </a:solidFill>
                <a:latin typeface="Arial"/>
              </a:rPr>
              <a:t>Validation, ownership checks and BCrypt password hashing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2563EB"/>
                </a:solidFill>
                <a:latin typeface="Arial"/>
              </a:rPr>
              <a:t>03 · FUNCTIONAL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21207"/>
            <a:ext cx="11064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>
                <a:solidFill>
                  <a:srgbClr val="102A43"/>
                </a:solidFill>
                <a:latin typeface="Arial"/>
              </a:rPr>
              <a:t>Core Modules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78992"/>
            <a:ext cx="11201400" cy="0"/>
          </a:xfrm>
          <a:prstGeom prst="line">
            <a:avLst/>
          </a:prstGeom>
          <a:ln w="1270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0" y="6510528"/>
            <a:ext cx="12143232" cy="256032"/>
          </a:xfrm>
          <a:prstGeom prst="rect">
            <a:avLst/>
          </a:prstGeom>
          <a:solidFill>
            <a:srgbClr val="102A43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6547104"/>
            <a:ext cx="7772400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>
                <a:solidFill>
                  <a:srgbClr val="D9E2EC"/>
                </a:solidFill>
                <a:latin typeface="Arial"/>
              </a:rPr>
              <a:t>Smart Expense Tracker with AI Financial Advisor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547104"/>
            <a:ext cx="1051560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>
                <a:solidFill>
                  <a:srgbClr val="D9E2EC"/>
                </a:solidFill>
                <a:latin typeface="Arial"/>
              </a:rPr>
              <a:t>Major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22608" y="6547104"/>
            <a:ext cx="201168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417320"/>
            <a:ext cx="26517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94944" y="1600200"/>
            <a:ext cx="384048" cy="384048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94944" y="1700784"/>
            <a:ext cx="384048" cy="1097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19" y="1581912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20" b="1">
                <a:solidFill>
                  <a:srgbClr val="102A43"/>
                </a:solidFill>
                <a:latin typeface="Arial"/>
              </a:rPr>
              <a:t>Authentication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2148840"/>
            <a:ext cx="2240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30" b="0">
                <a:solidFill>
                  <a:srgbClr val="627D98"/>
                </a:solidFill>
                <a:latin typeface="Arial"/>
              </a:rPr>
              <a:t>Registration, login, logout, protected routes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1417320"/>
            <a:ext cx="26517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593592" y="1600200"/>
            <a:ext cx="384048" cy="384048"/>
          </a:xfrm>
          <a:prstGeom prst="ellipse">
            <a:avLst/>
          </a:prstGeom>
          <a:solidFill>
            <a:srgbClr val="0EA5A8"/>
          </a:solidFill>
          <a:ln>
            <a:solidFill>
              <a:srgbClr val="0EA5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93592" y="1700784"/>
            <a:ext cx="384048" cy="1097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87368" y="1581912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20" b="1">
                <a:solidFill>
                  <a:srgbClr val="102A43"/>
                </a:solidFill>
                <a:latin typeface="Arial"/>
              </a:rPr>
              <a:t>Income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3592" y="2148840"/>
            <a:ext cx="2240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30" b="0">
                <a:solidFill>
                  <a:srgbClr val="627D98"/>
                </a:solidFill>
                <a:latin typeface="Arial"/>
              </a:rPr>
              <a:t>CRUD, search, date reports, monthly/yearly analytics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27648" y="1417320"/>
            <a:ext cx="26517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492240" y="1600200"/>
            <a:ext cx="384048" cy="384048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92240" y="1700784"/>
            <a:ext cx="384048" cy="1097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1581912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20" b="1">
                <a:solidFill>
                  <a:srgbClr val="102A43"/>
                </a:solidFill>
                <a:latin typeface="Arial"/>
              </a:rPr>
              <a:t>Expenses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148840"/>
            <a:ext cx="2240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30" b="0">
                <a:solidFill>
                  <a:srgbClr val="627D98"/>
                </a:solidFill>
                <a:latin typeface="Arial"/>
              </a:rPr>
              <a:t>CRUD, search, categories, analytics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26296" y="1417320"/>
            <a:ext cx="26517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9390888" y="1600200"/>
            <a:ext cx="384048" cy="384048"/>
          </a:xfrm>
          <a:prstGeom prst="ellipse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390888" y="1700784"/>
            <a:ext cx="384048" cy="1097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84664" y="1581912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20" b="1">
                <a:solidFill>
                  <a:srgbClr val="102A43"/>
                </a:solidFill>
                <a:latin typeface="Arial"/>
              </a:rPr>
              <a:t>Budgets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90888" y="2148840"/>
            <a:ext cx="2240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30" b="0">
                <a:solidFill>
                  <a:srgbClr val="627D98"/>
                </a:solidFill>
                <a:latin typeface="Arial"/>
              </a:rPr>
              <a:t>Category/month/year, usage, remaining, over-budget status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0352" y="3337560"/>
            <a:ext cx="26517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94944" y="3520440"/>
            <a:ext cx="384048" cy="384048"/>
          </a:xfrm>
          <a:prstGeom prst="ellipse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94944" y="3621024"/>
            <a:ext cx="384048" cy="1097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19" y="3502152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20" b="1">
                <a:solidFill>
                  <a:srgbClr val="102A43"/>
                </a:solidFill>
                <a:latin typeface="Arial"/>
              </a:rPr>
              <a:t>Reports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" y="4069080"/>
            <a:ext cx="2240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30" b="0">
                <a:solidFill>
                  <a:srgbClr val="627D98"/>
                </a:solidFill>
                <a:latin typeface="Arial"/>
              </a:rPr>
              <a:t>User-specific, date-range, PDF and Excel exports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29000" y="3337560"/>
            <a:ext cx="26517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3593592" y="3520440"/>
            <a:ext cx="384048" cy="384048"/>
          </a:xfrm>
          <a:prstGeom prst="ellipse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593592" y="3621024"/>
            <a:ext cx="384048" cy="1097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87368" y="3502152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20" b="1">
                <a:solidFill>
                  <a:srgbClr val="102A43"/>
                </a:solidFill>
                <a:latin typeface="Arial"/>
              </a:rPr>
              <a:t>AI Financial Advisor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93592" y="4069080"/>
            <a:ext cx="2240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30" b="0">
                <a:solidFill>
                  <a:srgbClr val="627D98"/>
                </a:solidFill>
                <a:latin typeface="Arial"/>
              </a:rPr>
              <a:t>Gemini recommendations using context + fallback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27648" y="3337560"/>
            <a:ext cx="26517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492240" y="3520440"/>
            <a:ext cx="384048" cy="384048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92240" y="3621024"/>
            <a:ext cx="384048" cy="1097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6016" y="3502152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20" b="1">
                <a:solidFill>
                  <a:srgbClr val="102A43"/>
                </a:solidFill>
                <a:latin typeface="Arial"/>
              </a:rPr>
              <a:t>Profile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4069080"/>
            <a:ext cx="2240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30" b="0">
                <a:solidFill>
                  <a:srgbClr val="627D98"/>
                </a:solidFill>
                <a:latin typeface="Arial"/>
              </a:rPr>
              <a:t>Update account information and change password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226296" y="3337560"/>
            <a:ext cx="26517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9390888" y="3520440"/>
            <a:ext cx="384048" cy="384048"/>
          </a:xfrm>
          <a:prstGeom prst="ellipse">
            <a:avLst/>
          </a:prstGeom>
          <a:solidFill>
            <a:srgbClr val="0EA5A8"/>
          </a:solidFill>
          <a:ln>
            <a:solidFill>
              <a:srgbClr val="0EA5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390888" y="3621024"/>
            <a:ext cx="384048" cy="1097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84664" y="3502152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20" b="1">
                <a:solidFill>
                  <a:srgbClr val="102A43"/>
                </a:solidFill>
                <a:latin typeface="Arial"/>
              </a:rPr>
              <a:t>Dashboard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90888" y="4069080"/>
            <a:ext cx="2240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30" b="0">
                <a:solidFill>
                  <a:srgbClr val="627D98"/>
                </a:solidFill>
                <a:latin typeface="Arial"/>
              </a:rPr>
              <a:t>Summaries, budget progress and charts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2563EB"/>
                </a:solidFill>
                <a:latin typeface="Arial"/>
              </a:rPr>
              <a:t>04 · HOW THE PARTS CONNECT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21207"/>
            <a:ext cx="11064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>
                <a:solidFill>
                  <a:srgbClr val="102A43"/>
                </a:solidFill>
                <a:latin typeface="Arial"/>
              </a:rPr>
              <a:t>System Architecture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78992"/>
            <a:ext cx="11201400" cy="0"/>
          </a:xfrm>
          <a:prstGeom prst="line">
            <a:avLst/>
          </a:prstGeom>
          <a:ln w="1270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0" y="6510528"/>
            <a:ext cx="12143232" cy="256032"/>
          </a:xfrm>
          <a:prstGeom prst="rect">
            <a:avLst/>
          </a:prstGeom>
          <a:solidFill>
            <a:srgbClr val="102A43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6547104"/>
            <a:ext cx="7772400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>
                <a:solidFill>
                  <a:srgbClr val="D9E2EC"/>
                </a:solidFill>
                <a:latin typeface="Arial"/>
              </a:rPr>
              <a:t>Smart Expense Tracker with AI Financial Advisor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547104"/>
            <a:ext cx="1051560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>
                <a:solidFill>
                  <a:srgbClr val="D9E2EC"/>
                </a:solidFill>
                <a:latin typeface="Arial"/>
              </a:rPr>
              <a:t>Major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22608" y="6547104"/>
            <a:ext cx="201168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>
                <a:solidFill>
                  <a:srgbClr val="D9E2EC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3716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243B53"/>
                </a:solidFill>
                <a:latin typeface="Arial"/>
              </a:rPr>
              <a:t>The architecture separates presentation, API handling, business rules and database persistence.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176272"/>
            <a:ext cx="233172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94360" y="2176272"/>
            <a:ext cx="64008" cy="1874519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340864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rial"/>
              </a:rPr>
              <a:t>React Frontend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34056"/>
            <a:ext cx="2075687" cy="12161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40" b="0">
                <a:solidFill>
                  <a:srgbClr val="627D98"/>
                </a:solidFill>
                <a:latin typeface="Arial"/>
              </a:rPr>
              <a:t>Pages • forms • navigation • charts • protected UI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2176272"/>
            <a:ext cx="219456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337560" y="2176272"/>
            <a:ext cx="64008" cy="1874519"/>
          </a:xfrm>
          <a:prstGeom prst="rect">
            <a:avLst/>
          </a:prstGeom>
          <a:solidFill>
            <a:srgbClr val="0EA5A8"/>
          </a:solidFill>
          <a:ln>
            <a:solidFill>
              <a:srgbClr val="0EA5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20440" y="2340864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rial"/>
              </a:rPr>
              <a:t>REST 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734056"/>
            <a:ext cx="1938528" cy="12161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40" b="0">
                <a:solidFill>
                  <a:srgbClr val="627D98"/>
                </a:solidFill>
                <a:latin typeface="Arial"/>
              </a:rPr>
              <a:t>HTTP requests • JSON data exchange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2176272"/>
            <a:ext cx="233172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943600" y="2176272"/>
            <a:ext cx="64008" cy="1874519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26480" y="2340864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rial"/>
              </a:rPr>
              <a:t>Spring Boot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734056"/>
            <a:ext cx="2075687" cy="12161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40" b="0">
                <a:solidFill>
                  <a:srgbClr val="627D98"/>
                </a:solidFill>
                <a:latin typeface="Arial"/>
              </a:rPr>
              <a:t>Controllers • DTOs • services • validation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2176272"/>
            <a:ext cx="283464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686800" y="2176272"/>
            <a:ext cx="64008" cy="1874519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869680" y="2340864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rial"/>
              </a:rPr>
              <a:t>MySQL + JPA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2734056"/>
            <a:ext cx="2578608" cy="12161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40" b="0">
                <a:solidFill>
                  <a:srgbClr val="627D98"/>
                </a:solidFill>
                <a:latin typeface="Arial"/>
              </a:rPr>
              <a:t>Repositories • Hibernate • persistent data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926080" y="3108960"/>
            <a:ext cx="411480" cy="0"/>
          </a:xfrm>
          <a:prstGeom prst="line">
            <a:avLst/>
          </a:prstGeom>
          <a:ln w="1270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532120" y="3108960"/>
            <a:ext cx="411480" cy="0"/>
          </a:xfrm>
          <a:prstGeom prst="line">
            <a:avLst/>
          </a:prstGeom>
          <a:ln w="1270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275320" y="3108960"/>
            <a:ext cx="411480" cy="0"/>
          </a:xfrm>
          <a:prstGeom prst="line">
            <a:avLst/>
          </a:prstGeom>
          <a:ln w="1270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590288" y="4572000"/>
            <a:ext cx="3063240" cy="96012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773168" y="4754880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50" b="1">
                <a:solidFill>
                  <a:srgbClr val="102A43"/>
                </a:solidFill>
                <a:latin typeface="Arial"/>
              </a:rPr>
              <a:t>AI Financial Advisor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73168" y="5047488"/>
            <a:ext cx="26974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0">
                <a:solidFill>
                  <a:srgbClr val="D97706"/>
                </a:solidFill>
                <a:latin typeface="Arial"/>
              </a:rPr>
              <a:t>Gemini API + local fallback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6126480" y="4050791"/>
            <a:ext cx="502920" cy="521209"/>
          </a:xfrm>
          <a:prstGeom prst="line">
            <a:avLst/>
          </a:prstGeom>
          <a:ln w="1905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594360" y="4800600"/>
            <a:ext cx="1371600" cy="274320"/>
          </a:xfrm>
          <a:prstGeom prst="roundRect">
            <a:avLst/>
          </a:prstGeom>
          <a:solidFill>
            <a:srgbClr val="EAF2FF"/>
          </a:solidFill>
          <a:ln w="12700">
            <a:solidFill>
              <a:srgbClr val="EA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30936" y="4818888"/>
            <a:ext cx="129844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2563EB"/>
                </a:solidFill>
                <a:latin typeface="Arial"/>
              </a:rPr>
              <a:t>LAYERED BACKEND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193792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627D98"/>
                </a:solidFill>
                <a:latin typeface="Arial"/>
              </a:rPr>
              <a:t>Configuration → Controller → DTO → Service → Repository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2563EB"/>
                </a:solidFill>
                <a:latin typeface="Arial"/>
              </a:rPr>
              <a:t>05 · FROM ACTION TO 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21207"/>
            <a:ext cx="11064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>
                <a:solidFill>
                  <a:srgbClr val="102A43"/>
                </a:solidFill>
                <a:latin typeface="Arial"/>
              </a:rPr>
              <a:t>End-to-End User Workflow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78992"/>
            <a:ext cx="11201400" cy="0"/>
          </a:xfrm>
          <a:prstGeom prst="line">
            <a:avLst/>
          </a:prstGeom>
          <a:ln w="1270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0" y="6510528"/>
            <a:ext cx="12143232" cy="256032"/>
          </a:xfrm>
          <a:prstGeom prst="rect">
            <a:avLst/>
          </a:prstGeom>
          <a:solidFill>
            <a:srgbClr val="102A43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6547104"/>
            <a:ext cx="7772400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>
                <a:solidFill>
                  <a:srgbClr val="D9E2EC"/>
                </a:solidFill>
                <a:latin typeface="Arial"/>
              </a:rPr>
              <a:t>Smart Expense Tracker with AI Financial Advisor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547104"/>
            <a:ext cx="1051560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>
                <a:solidFill>
                  <a:srgbClr val="D9E2EC"/>
                </a:solidFill>
                <a:latin typeface="Arial"/>
              </a:rPr>
              <a:t>Major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22608" y="6547104"/>
            <a:ext cx="201168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>
                <a:solidFill>
                  <a:srgbClr val="D9E2EC"/>
                </a:solidFill>
                <a:latin typeface="Arial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28800"/>
            <a:ext cx="1600200" cy="2267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97280" y="2048256"/>
            <a:ext cx="530352" cy="53035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2212848"/>
            <a:ext cx="530352" cy="1097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2770632"/>
            <a:ext cx="13716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>
                <a:solidFill>
                  <a:srgbClr val="102A43"/>
                </a:solidFill>
                <a:latin typeface="Arial"/>
              </a:rPr>
              <a:t>Register / Login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10128"/>
            <a:ext cx="1344168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0">
                <a:solidFill>
                  <a:srgbClr val="627D98"/>
                </a:solidFill>
                <a:latin typeface="Arial"/>
              </a:rPr>
              <a:t>Account setup and protected navigation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167128" y="2962656"/>
            <a:ext cx="301752" cy="0"/>
          </a:xfrm>
          <a:prstGeom prst="line">
            <a:avLst/>
          </a:prstGeom>
          <a:ln w="16510">
            <a:solidFill>
              <a:srgbClr val="A7B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468880" y="1828800"/>
            <a:ext cx="1600200" cy="2267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2999232" y="2048256"/>
            <a:ext cx="530352" cy="530352"/>
          </a:xfrm>
          <a:prstGeom prst="ellipse">
            <a:avLst/>
          </a:prstGeom>
          <a:solidFill>
            <a:srgbClr val="0EA5A8"/>
          </a:solidFill>
          <a:ln>
            <a:solidFill>
              <a:srgbClr val="0EA5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99232" y="2212848"/>
            <a:ext cx="530352" cy="1097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78608" y="2770632"/>
            <a:ext cx="13716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>
                <a:solidFill>
                  <a:srgbClr val="102A43"/>
                </a:solidFill>
                <a:latin typeface="Arial"/>
              </a:rPr>
              <a:t>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87752" y="3310128"/>
            <a:ext cx="1344168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0">
                <a:solidFill>
                  <a:srgbClr val="627D98"/>
                </a:solidFill>
                <a:latin typeface="Arial"/>
              </a:rPr>
              <a:t>Income and expense entries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069080" y="2962656"/>
            <a:ext cx="301752" cy="0"/>
          </a:xfrm>
          <a:prstGeom prst="line">
            <a:avLst/>
          </a:prstGeom>
          <a:ln w="16510">
            <a:solidFill>
              <a:srgbClr val="A7B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370832" y="1828800"/>
            <a:ext cx="1600200" cy="2267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901184" y="2048256"/>
            <a:ext cx="530352" cy="530352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901184" y="2212848"/>
            <a:ext cx="530352" cy="1097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2770632"/>
            <a:ext cx="13716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>
                <a:solidFill>
                  <a:srgbClr val="102A43"/>
                </a:solidFill>
                <a:latin typeface="Arial"/>
              </a:rPr>
              <a:t>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9704" y="3310128"/>
            <a:ext cx="1344168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0">
                <a:solidFill>
                  <a:srgbClr val="627D98"/>
                </a:solidFill>
                <a:latin typeface="Arial"/>
              </a:rPr>
              <a:t>Category-based budgets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971032" y="2962656"/>
            <a:ext cx="301752" cy="0"/>
          </a:xfrm>
          <a:prstGeom prst="line">
            <a:avLst/>
          </a:prstGeom>
          <a:ln w="16510">
            <a:solidFill>
              <a:srgbClr val="A7B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272784" y="1828800"/>
            <a:ext cx="1600200" cy="2267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6803136" y="2048256"/>
            <a:ext cx="530352" cy="530352"/>
          </a:xfrm>
          <a:prstGeom prst="ellipse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03136" y="2212848"/>
            <a:ext cx="530352" cy="1097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2512" y="2770632"/>
            <a:ext cx="13716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>
                <a:solidFill>
                  <a:srgbClr val="102A43"/>
                </a:solidFill>
                <a:latin typeface="Arial"/>
              </a:rPr>
              <a:t>Monitor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91656" y="3310128"/>
            <a:ext cx="1344168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0">
                <a:solidFill>
                  <a:srgbClr val="627D98"/>
                </a:solidFill>
                <a:latin typeface="Arial"/>
              </a:rPr>
              <a:t>Usage, remaining balance and alerts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872983" y="2962656"/>
            <a:ext cx="301753" cy="0"/>
          </a:xfrm>
          <a:prstGeom prst="line">
            <a:avLst/>
          </a:prstGeom>
          <a:ln w="16510">
            <a:solidFill>
              <a:srgbClr val="A7B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174736" y="1828800"/>
            <a:ext cx="1600200" cy="2267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8705088" y="2048256"/>
            <a:ext cx="530352" cy="530352"/>
          </a:xfrm>
          <a:prstGeom prst="ellipse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705088" y="2212848"/>
            <a:ext cx="530352" cy="1097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84463" y="2770632"/>
            <a:ext cx="13716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>
                <a:solidFill>
                  <a:srgbClr val="102A43"/>
                </a:solidFill>
                <a:latin typeface="Arial"/>
              </a:rPr>
              <a:t>Analyse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3608" y="3310128"/>
            <a:ext cx="1344168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0">
                <a:solidFill>
                  <a:srgbClr val="627D98"/>
                </a:solidFill>
                <a:latin typeface="Arial"/>
              </a:rPr>
              <a:t>Dashboard, charts and reports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774936" y="2962656"/>
            <a:ext cx="301752" cy="0"/>
          </a:xfrm>
          <a:prstGeom prst="line">
            <a:avLst/>
          </a:prstGeom>
          <a:ln w="16510">
            <a:solidFill>
              <a:srgbClr val="A7B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10076688" y="1828800"/>
            <a:ext cx="1600200" cy="2267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10607040" y="2048256"/>
            <a:ext cx="530352" cy="530352"/>
          </a:xfrm>
          <a:prstGeom prst="ellipse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607040" y="2212848"/>
            <a:ext cx="530352" cy="1097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86415" y="2770632"/>
            <a:ext cx="13716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>
                <a:solidFill>
                  <a:srgbClr val="102A43"/>
                </a:solidFill>
                <a:latin typeface="Arial"/>
              </a:rPr>
              <a:t>Get guidance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310128"/>
            <a:ext cx="1344168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0">
                <a:solidFill>
                  <a:srgbClr val="627D98"/>
                </a:solidFill>
                <a:latin typeface="Arial"/>
              </a:rPr>
              <a:t>AI Financial Advisor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51560" y="4709160"/>
            <a:ext cx="10058400" cy="822960"/>
          </a:xfrm>
          <a:prstGeom prst="roundRect">
            <a:avLst/>
          </a:prstGeom>
          <a:solidFill>
            <a:srgbClr val="E7F8F3"/>
          </a:solidFill>
          <a:ln w="12700">
            <a:solidFill>
              <a:srgbClr val="C8E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325880" y="4956048"/>
            <a:ext cx="95097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20" b="1">
                <a:solidFill>
                  <a:srgbClr val="102A43"/>
                </a:solidFill>
                <a:latin typeface="Arial"/>
              </a:rPr>
              <a:t>One continuous loop: record → plan → monitor → understand → act.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2563EB"/>
                </a:solidFill>
                <a:latin typeface="Arial"/>
              </a:rPr>
              <a:t>06 · MAKING DATA ACTIONABLE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21207"/>
            <a:ext cx="11064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>
                <a:solidFill>
                  <a:srgbClr val="102A43"/>
                </a:solidFill>
                <a:latin typeface="Arial"/>
              </a:rPr>
              <a:t>Budget Monitoring &amp; Reports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78992"/>
            <a:ext cx="11201400" cy="0"/>
          </a:xfrm>
          <a:prstGeom prst="line">
            <a:avLst/>
          </a:prstGeom>
          <a:ln w="1270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0" y="6510528"/>
            <a:ext cx="12143232" cy="256032"/>
          </a:xfrm>
          <a:prstGeom prst="rect">
            <a:avLst/>
          </a:prstGeom>
          <a:solidFill>
            <a:srgbClr val="102A43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6547104"/>
            <a:ext cx="7772400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>
                <a:solidFill>
                  <a:srgbClr val="D9E2EC"/>
                </a:solidFill>
                <a:latin typeface="Arial"/>
              </a:rPr>
              <a:t>Smart Expense Tracker with AI Financial Advisor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547104"/>
            <a:ext cx="1051560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>
                <a:solidFill>
                  <a:srgbClr val="D9E2EC"/>
                </a:solidFill>
                <a:latin typeface="Arial"/>
              </a:rPr>
              <a:t>Major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22608" y="6547104"/>
            <a:ext cx="201168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>
                <a:solidFill>
                  <a:srgbClr val="D9E2EC"/>
                </a:solidFill>
                <a:latin typeface="Arial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389888"/>
            <a:ext cx="5486400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22960" y="1664208"/>
            <a:ext cx="1234440" cy="274320"/>
          </a:xfrm>
          <a:prstGeom prst="roundRect">
            <a:avLst/>
          </a:prstGeom>
          <a:solidFill>
            <a:srgbClr val="F0E8FF"/>
          </a:solidFill>
          <a:ln w="12700">
            <a:solidFill>
              <a:srgbClr val="F0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1682496"/>
            <a:ext cx="116128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7C3AED"/>
                </a:solidFill>
                <a:latin typeface="Arial"/>
              </a:rPr>
              <a:t>BUDGET LOGIC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10312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50" b="1">
                <a:solidFill>
                  <a:srgbClr val="102A43"/>
                </a:solidFill>
                <a:latin typeface="Arial"/>
              </a:rPr>
              <a:t>Planned amount vs actual spending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542032"/>
            <a:ext cx="438912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27D98"/>
                </a:solidFill>
                <a:latin typeface="Arial"/>
              </a:rPr>
              <a:t>Illustrative view of implemented status logic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182112"/>
            <a:ext cx="4553712" cy="228600"/>
          </a:xfrm>
          <a:prstGeom prst="roundRect">
            <a:avLst/>
          </a:prstGeom>
          <a:solidFill>
            <a:srgbClr val="E6EAF0"/>
          </a:solidFill>
          <a:ln>
            <a:solidFill>
              <a:srgbClr val="E6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14400" y="3182112"/>
            <a:ext cx="3282696" cy="228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822191" y="3218688"/>
            <a:ext cx="676656" cy="118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1">
                <a:solidFill>
                  <a:srgbClr val="FFFFFF"/>
                </a:solidFill>
                <a:latin typeface="Arial"/>
              </a:rPr>
              <a:t>72% used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840480"/>
            <a:ext cx="100584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2563EB"/>
                </a:solidFill>
                <a:latin typeface="Arial"/>
              </a:rPr>
              <a:t>Spent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65376" y="3840480"/>
            <a:ext cx="3337560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70" b="0">
                <a:solidFill>
                  <a:srgbClr val="243B53"/>
                </a:solidFill>
                <a:latin typeface="Arial"/>
              </a:rPr>
              <a:t>Actual expenditure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434840"/>
            <a:ext cx="100584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059669"/>
                </a:solidFill>
                <a:latin typeface="Arial"/>
              </a:rPr>
              <a:t>Remaining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65376" y="4434840"/>
            <a:ext cx="3337560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70" b="0">
                <a:solidFill>
                  <a:srgbClr val="243B53"/>
                </a:solidFill>
                <a:latin typeface="Arial"/>
              </a:rPr>
              <a:t>Planned minus spent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029200"/>
            <a:ext cx="100584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D97706"/>
                </a:solidFill>
                <a:latin typeface="Arial"/>
              </a:rPr>
              <a:t>Status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65376" y="5029200"/>
            <a:ext cx="3337560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70" b="0">
                <a:solidFill>
                  <a:srgbClr val="243B53"/>
                </a:solidFill>
                <a:latin typeface="Arial"/>
              </a:rPr>
              <a:t>Normal / warning / exceeded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1072" y="1389888"/>
            <a:ext cx="5303520" cy="4617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565392" y="1664208"/>
            <a:ext cx="1078992" cy="274320"/>
          </a:xfrm>
          <a:prstGeom prst="roundRect">
            <a:avLst/>
          </a:prstGeom>
          <a:solidFill>
            <a:srgbClr val="E7F8F3"/>
          </a:solidFill>
          <a:ln w="12700">
            <a:solidFill>
              <a:srgbClr val="E7F8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01968" y="1682496"/>
            <a:ext cx="1005839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059669"/>
                </a:solidFill>
                <a:latin typeface="Arial"/>
              </a:rPr>
              <a:t>REPORTING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65392" y="210312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50" b="1">
                <a:solidFill>
                  <a:srgbClr val="102A43"/>
                </a:solidFill>
                <a:latin typeface="Arial"/>
              </a:rPr>
              <a:t>User-specific financial views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65392" y="2788920"/>
            <a:ext cx="4553712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711696" y="2953512"/>
            <a:ext cx="960120" cy="27432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748272" y="2971800"/>
            <a:ext cx="88696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DC2626"/>
                </a:solidFill>
                <a:latin typeface="Arial"/>
              </a:rPr>
              <a:t>PDF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45552" y="2971800"/>
            <a:ext cx="288036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60" b="1">
                <a:solidFill>
                  <a:srgbClr val="102A43"/>
                </a:solidFill>
                <a:latin typeface="Arial"/>
              </a:rPr>
              <a:t>Shareable reports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65392" y="3657600"/>
            <a:ext cx="4553712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711696" y="3822191"/>
            <a:ext cx="960120" cy="274320"/>
          </a:xfrm>
          <a:prstGeom prst="roundRect">
            <a:avLst/>
          </a:prstGeom>
          <a:solidFill>
            <a:srgbClr val="E7F8F3"/>
          </a:solidFill>
          <a:ln w="12700">
            <a:solidFill>
              <a:srgbClr val="E7F8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748272" y="3840479"/>
            <a:ext cx="88696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059669"/>
                </a:solidFill>
                <a:latin typeface="Arial"/>
              </a:rPr>
              <a:t>EXCEL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45552" y="3840480"/>
            <a:ext cx="288036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60" b="1">
                <a:solidFill>
                  <a:srgbClr val="102A43"/>
                </a:solidFill>
                <a:latin typeface="Arial"/>
              </a:rPr>
              <a:t>Structured data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65392" y="4526279"/>
            <a:ext cx="4553712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6711696" y="4690871"/>
            <a:ext cx="960120" cy="274320"/>
          </a:xfrm>
          <a:prstGeom prst="roundRect">
            <a:avLst/>
          </a:prstGeom>
          <a:solidFill>
            <a:srgbClr val="EAF2FF"/>
          </a:solidFill>
          <a:ln w="12700">
            <a:solidFill>
              <a:srgbClr val="EA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748272" y="4709159"/>
            <a:ext cx="88696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2563EB"/>
                </a:solidFill>
                <a:latin typeface="Arial"/>
              </a:rPr>
              <a:t>DATE RANGE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45552" y="4709159"/>
            <a:ext cx="288036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60" b="1">
                <a:solidFill>
                  <a:srgbClr val="102A43"/>
                </a:solidFill>
                <a:latin typeface="Arial"/>
              </a:rPr>
              <a:t>Focused period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2563EB"/>
                </a:solidFill>
                <a:latin typeface="Arial"/>
              </a:rPr>
              <a:t>07 · AI-ASSISTED GUIDANCE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21207"/>
            <a:ext cx="11064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>
                <a:solidFill>
                  <a:srgbClr val="102A43"/>
                </a:solidFill>
                <a:latin typeface="Arial"/>
              </a:rPr>
              <a:t>AI Financial Advisor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78992"/>
            <a:ext cx="11201400" cy="0"/>
          </a:xfrm>
          <a:prstGeom prst="line">
            <a:avLst/>
          </a:prstGeom>
          <a:ln w="1270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0" y="6510528"/>
            <a:ext cx="12143232" cy="256032"/>
          </a:xfrm>
          <a:prstGeom prst="rect">
            <a:avLst/>
          </a:prstGeom>
          <a:solidFill>
            <a:srgbClr val="102A43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6547104"/>
            <a:ext cx="7772400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>
                <a:solidFill>
                  <a:srgbClr val="D9E2EC"/>
                </a:solidFill>
                <a:latin typeface="Arial"/>
              </a:rPr>
              <a:t>Smart Expense Tracker with AI Financial Advisor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547104"/>
            <a:ext cx="1051560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>
                <a:solidFill>
                  <a:srgbClr val="D9E2EC"/>
                </a:solidFill>
                <a:latin typeface="Arial"/>
              </a:rPr>
              <a:t>Major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22608" y="6547104"/>
            <a:ext cx="201168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>
                <a:solidFill>
                  <a:srgbClr val="D9E2EC"/>
                </a:solidFill>
                <a:latin typeface="Arial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371600"/>
            <a:ext cx="109728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50" b="0">
                <a:solidFill>
                  <a:srgbClr val="243B53"/>
                </a:solidFill>
                <a:latin typeface="Arial"/>
              </a:rPr>
              <a:t>The AI feature uses financial context already available inside the application to generate contextual suggestions.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267712"/>
            <a:ext cx="2148840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94360" y="2267712"/>
            <a:ext cx="64008" cy="162763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432304"/>
            <a:ext cx="1874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rial"/>
              </a:rPr>
              <a:t>User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25496"/>
            <a:ext cx="1892808" cy="9692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40" b="0">
                <a:solidFill>
                  <a:srgbClr val="627D98"/>
                </a:solidFill>
                <a:latin typeface="Arial"/>
              </a:rPr>
              <a:t>Income • expenses • budgets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54680" y="2267712"/>
            <a:ext cx="2148840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154680" y="2267712"/>
            <a:ext cx="64008" cy="1627632"/>
          </a:xfrm>
          <a:prstGeom prst="rect">
            <a:avLst/>
          </a:prstGeom>
          <a:solidFill>
            <a:srgbClr val="0EA5A8"/>
          </a:solidFill>
          <a:ln>
            <a:solidFill>
              <a:srgbClr val="0EA5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37560" y="2432304"/>
            <a:ext cx="1874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rial"/>
              </a:rPr>
              <a:t>Context Builder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2825496"/>
            <a:ext cx="1892808" cy="9692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40" b="0">
                <a:solidFill>
                  <a:srgbClr val="627D98"/>
                </a:solidFill>
                <a:latin typeface="Arial"/>
              </a:rPr>
              <a:t>Relevant financial context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5000" y="2267712"/>
            <a:ext cx="2148840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715000" y="2267712"/>
            <a:ext cx="64008" cy="162763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97880" y="2432304"/>
            <a:ext cx="1874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rial"/>
              </a:rPr>
              <a:t>Gemini API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97880" y="2825496"/>
            <a:ext cx="1892808" cy="9692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40" b="0">
                <a:solidFill>
                  <a:srgbClr val="627D98"/>
                </a:solidFill>
                <a:latin typeface="Arial"/>
              </a:rPr>
              <a:t>External AI recommendation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75320" y="2267712"/>
            <a:ext cx="2148840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275320" y="2267712"/>
            <a:ext cx="64008" cy="1627632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58200" y="2432304"/>
            <a:ext cx="1874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rial"/>
              </a:rPr>
              <a:t>Advisor 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2825496"/>
            <a:ext cx="1892808" cy="9692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40" b="0">
                <a:solidFill>
                  <a:srgbClr val="627D98"/>
                </a:solidFill>
                <a:latin typeface="Arial"/>
              </a:rPr>
              <a:t>Suggestions and analysis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743200" y="3081528"/>
            <a:ext cx="411480" cy="0"/>
          </a:xfrm>
          <a:prstGeom prst="line">
            <a:avLst/>
          </a:prstGeom>
          <a:ln w="1270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03520" y="3081528"/>
            <a:ext cx="411480" cy="0"/>
          </a:xfrm>
          <a:prstGeom prst="line">
            <a:avLst/>
          </a:prstGeom>
          <a:ln w="1270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863840" y="3081528"/>
            <a:ext cx="411480" cy="0"/>
          </a:xfrm>
          <a:prstGeom prst="line">
            <a:avLst/>
          </a:prstGeom>
          <a:ln w="1270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063240" y="4572000"/>
            <a:ext cx="6035040" cy="86868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337560" y="4754880"/>
            <a:ext cx="105156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D97706"/>
                </a:solidFill>
                <a:latin typeface="Arial"/>
              </a:rPr>
              <a:t>Fallback path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4736592"/>
            <a:ext cx="43891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70" b="0">
                <a:solidFill>
                  <a:srgbClr val="102A43"/>
                </a:solidFill>
                <a:latin typeface="Arial"/>
              </a:rPr>
              <a:t>When Gemini is unavailable, a local recommendation mechanism can still provide guidance.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5879592"/>
            <a:ext cx="1078992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69" b="0">
                <a:solidFill>
                  <a:srgbClr val="627D98"/>
                </a:solidFill>
                <a:latin typeface="Arial"/>
              </a:rPr>
              <a:t>Responsible-use note: AI assistance supports financial awareness; it is not presented as regulated investment advice.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2563EB"/>
                </a:solidFill>
                <a:latin typeface="Arial"/>
              </a:rPr>
              <a:t>08 · IMPLEMENTATION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21207"/>
            <a:ext cx="11064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>
                <a:solidFill>
                  <a:srgbClr val="102A43"/>
                </a:solidFill>
                <a:latin typeface="Arial"/>
              </a:rPr>
              <a:t>Technology Stack &amp; Development Environment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78992"/>
            <a:ext cx="11201400" cy="0"/>
          </a:xfrm>
          <a:prstGeom prst="line">
            <a:avLst/>
          </a:prstGeom>
          <a:ln w="1270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0" y="6510528"/>
            <a:ext cx="12143232" cy="256032"/>
          </a:xfrm>
          <a:prstGeom prst="rect">
            <a:avLst/>
          </a:prstGeom>
          <a:solidFill>
            <a:srgbClr val="102A43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6547104"/>
            <a:ext cx="7772400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>
                <a:solidFill>
                  <a:srgbClr val="D9E2EC"/>
                </a:solidFill>
                <a:latin typeface="Arial"/>
              </a:rPr>
              <a:t>Smart Expense Tracker with AI Financial Advisor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547104"/>
            <a:ext cx="1051560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>
                <a:solidFill>
                  <a:srgbClr val="D9E2EC"/>
                </a:solidFill>
                <a:latin typeface="Arial"/>
              </a:rPr>
              <a:t>Major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22608" y="6547104"/>
            <a:ext cx="201168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>
                <a:solidFill>
                  <a:srgbClr val="D9E2EC"/>
                </a:solidFill>
                <a:latin typeface="Arial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389888"/>
            <a:ext cx="54864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2" y="1536192"/>
            <a:ext cx="100584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2563EB"/>
                </a:solidFill>
                <a:latin typeface="Arial"/>
              </a:rPr>
              <a:t>FRONTEND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1517904"/>
            <a:ext cx="22402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80" b="1">
                <a:solidFill>
                  <a:srgbClr val="102A43"/>
                </a:solidFill>
                <a:latin typeface="Arial"/>
              </a:rPr>
              <a:t>React 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801368"/>
            <a:ext cx="3977639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40" b="0">
                <a:solidFill>
                  <a:srgbClr val="627D98"/>
                </a:solidFill>
                <a:latin typeface="Arial"/>
              </a:rPr>
              <a:t>React Router • Axios • Chart.js/react-chartjs-2 • SweetAlert2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395728"/>
            <a:ext cx="54864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4672" y="2542032"/>
            <a:ext cx="100584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7C3AED"/>
                </a:solidFill>
                <a:latin typeface="Arial"/>
              </a:rPr>
              <a:t>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2523744"/>
            <a:ext cx="22402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80" b="1">
                <a:solidFill>
                  <a:srgbClr val="102A43"/>
                </a:solidFill>
                <a:latin typeface="Arial"/>
              </a:rPr>
              <a:t>Java 22 + Spring Boot 3.5.6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807208"/>
            <a:ext cx="3977639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40" b="0">
                <a:solidFill>
                  <a:srgbClr val="627D98"/>
                </a:solidFill>
                <a:latin typeface="Arial"/>
              </a:rPr>
              <a:t>Spring Web • Spring Data JPA/Hibernate • Validation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401568"/>
            <a:ext cx="54864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" y="3547872"/>
            <a:ext cx="100584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059669"/>
                </a:solidFill>
                <a:latin typeface="Arial"/>
              </a:rPr>
              <a:t>DATABASE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3529584"/>
            <a:ext cx="22402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80" b="1">
                <a:solidFill>
                  <a:srgbClr val="102A43"/>
                </a:solidFill>
                <a:latin typeface="Arial"/>
              </a:rPr>
              <a:t>MySQL 8.x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813048"/>
            <a:ext cx="3977639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40" b="0">
                <a:solidFill>
                  <a:srgbClr val="627D98"/>
                </a:solidFill>
                <a:latin typeface="Arial"/>
              </a:rPr>
              <a:t>Relational persistence for users and financial data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407408"/>
            <a:ext cx="54864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2" y="4553712"/>
            <a:ext cx="100584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D97706"/>
                </a:solidFill>
                <a:latin typeface="Arial"/>
              </a:rPr>
              <a:t>BUILD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4535424"/>
            <a:ext cx="22402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80" b="1">
                <a:solidFill>
                  <a:srgbClr val="102A43"/>
                </a:solidFill>
                <a:latin typeface="Arial"/>
              </a:rPr>
              <a:t>Maven Wrapper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18888"/>
            <a:ext cx="3977639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40" b="0">
                <a:solidFill>
                  <a:srgbClr val="627D98"/>
                </a:solidFill>
                <a:latin typeface="Arial"/>
              </a:rPr>
              <a:t>Backend build/run through mvnw.cmd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5080" y="1389888"/>
            <a:ext cx="525780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629400" y="1664208"/>
            <a:ext cx="1143000" cy="274320"/>
          </a:xfrm>
          <a:prstGeom prst="roundRect">
            <a:avLst/>
          </a:prstGeom>
          <a:solidFill>
            <a:srgbClr val="EAF2FF"/>
          </a:solidFill>
          <a:ln w="12700">
            <a:solidFill>
              <a:srgbClr val="EA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65976" y="1682496"/>
            <a:ext cx="106984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2563EB"/>
                </a:solidFill>
                <a:latin typeface="Arial"/>
              </a:rPr>
              <a:t>DEVELOPMENT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2194560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2563EB"/>
                </a:solidFill>
                <a:latin typeface="Arial"/>
              </a:rPr>
              <a:t>Backend 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79" y="2194560"/>
            <a:ext cx="356616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243B53"/>
                </a:solidFill>
                <a:latin typeface="Arial"/>
              </a:rPr>
              <a:t>Eclipse IDE for Enterprise Java and Web Developers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2697480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2563EB"/>
                </a:solidFill>
                <a:latin typeface="Arial"/>
              </a:rPr>
              <a:t>Frontend IDE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2697480"/>
            <a:ext cx="356616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243B53"/>
                </a:solidFill>
                <a:latin typeface="Arial"/>
              </a:rPr>
              <a:t>Visual Studio Code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200400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2563EB"/>
                </a:solidFill>
                <a:latin typeface="Arial"/>
              </a:rPr>
              <a:t>AI/Web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3200400"/>
            <a:ext cx="356616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243B53"/>
                </a:solidFill>
                <a:latin typeface="Arial"/>
              </a:rPr>
              <a:t>Gemini API + WebClient configuration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3703320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2563EB"/>
                </a:solidFill>
                <a:latin typeface="Arial"/>
              </a:rPr>
              <a:t>Reporting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6679" y="3703320"/>
            <a:ext cx="356616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243B53"/>
                </a:solidFill>
                <a:latin typeface="Arial"/>
              </a:rPr>
              <a:t>Apache POI + PDFBox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4206240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2563EB"/>
                </a:solidFill>
                <a:latin typeface="Arial"/>
              </a:rPr>
              <a:t>Mail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26679" y="4206240"/>
            <a:ext cx="356616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243B53"/>
                </a:solidFill>
                <a:latin typeface="Arial"/>
              </a:rPr>
              <a:t>Spring Boot Mail (optional)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709160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2563EB"/>
                </a:solidFill>
                <a:latin typeface="Arial"/>
              </a:rPr>
              <a:t>Source control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4709160"/>
            <a:ext cx="356616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243B53"/>
                </a:solidFill>
                <a:latin typeface="Arial"/>
              </a:rPr>
              <a:t>Git + GitHub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2563EB"/>
                </a:solidFill>
                <a:latin typeface="Arial"/>
              </a:rPr>
              <a:t>09 · QUALITY BUILT INTO THE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21207"/>
            <a:ext cx="11064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>
                <a:solidFill>
                  <a:srgbClr val="102A43"/>
                </a:solidFill>
                <a:latin typeface="Arial"/>
              </a:rPr>
              <a:t>Security, Reliability &amp; Data Protection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78992"/>
            <a:ext cx="11201400" cy="0"/>
          </a:xfrm>
          <a:prstGeom prst="line">
            <a:avLst/>
          </a:prstGeom>
          <a:ln w="1270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0" y="6510528"/>
            <a:ext cx="12143232" cy="256032"/>
          </a:xfrm>
          <a:prstGeom prst="rect">
            <a:avLst/>
          </a:prstGeom>
          <a:solidFill>
            <a:srgbClr val="102A43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6547104"/>
            <a:ext cx="7772400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>
                <a:solidFill>
                  <a:srgbClr val="D9E2EC"/>
                </a:solidFill>
                <a:latin typeface="Arial"/>
              </a:rPr>
              <a:t>Smart Expense Tracker with AI Financial Advisor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547104"/>
            <a:ext cx="1051560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>
                <a:solidFill>
                  <a:srgbClr val="D9E2EC"/>
                </a:solidFill>
                <a:latin typeface="Arial"/>
              </a:rPr>
              <a:t>Major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22608" y="6547104"/>
            <a:ext cx="201168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>
                <a:solidFill>
                  <a:srgbClr val="D9E2EC"/>
                </a:solidFill>
                <a:latin typeface="Arial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17320"/>
            <a:ext cx="5212080" cy="1161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94360" y="1417320"/>
            <a:ext cx="64008" cy="116128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1581912"/>
            <a:ext cx="44805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20" b="1">
                <a:solidFill>
                  <a:srgbClr val="102A43"/>
                </a:solidFill>
                <a:latin typeface="Arial"/>
              </a:rPr>
              <a:t>BCrypt password hashing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929384"/>
            <a:ext cx="44348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10" b="0">
                <a:solidFill>
                  <a:srgbClr val="627D98"/>
                </a:solidFill>
                <a:latin typeface="Arial"/>
              </a:rPr>
              <a:t>Passwords are hashed before storage for newly registered users.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417320"/>
            <a:ext cx="5212080" cy="1161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17920" y="1417320"/>
            <a:ext cx="64008" cy="1161288"/>
          </a:xfrm>
          <a:prstGeom prst="rect">
            <a:avLst/>
          </a:prstGeom>
          <a:solidFill>
            <a:srgbClr val="0EA5A8"/>
          </a:solidFill>
          <a:ln>
            <a:solidFill>
              <a:srgbClr val="0EA5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46520" y="1581912"/>
            <a:ext cx="44805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20" b="1">
                <a:solidFill>
                  <a:srgbClr val="102A43"/>
                </a:solidFill>
                <a:latin typeface="Arial"/>
              </a:rPr>
              <a:t>Protected navigation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929384"/>
            <a:ext cx="44348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10" b="0">
                <a:solidFill>
                  <a:srgbClr val="627D98"/>
                </a:solidFill>
                <a:latin typeface="Arial"/>
              </a:rPr>
              <a:t>Frontend routes require a logged-in user identifier.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2862072"/>
            <a:ext cx="5212080" cy="1161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94360" y="2862072"/>
            <a:ext cx="64008" cy="1161288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3026664"/>
            <a:ext cx="44805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20" b="1">
                <a:solidFill>
                  <a:srgbClr val="102A43"/>
                </a:solidFill>
                <a:latin typeface="Arial"/>
              </a:rPr>
              <a:t>Ownership checks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374136"/>
            <a:ext cx="44348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10" b="0">
                <a:solidFill>
                  <a:srgbClr val="627D98"/>
                </a:solidFill>
                <a:latin typeface="Arial"/>
              </a:rPr>
              <a:t>Financial actions are scoped to the relevant user.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2862072"/>
            <a:ext cx="5212080" cy="1161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0" y="2862072"/>
            <a:ext cx="64008" cy="1161288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46520" y="3026664"/>
            <a:ext cx="44805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20" b="1">
                <a:solidFill>
                  <a:srgbClr val="102A43"/>
                </a:solidFill>
                <a:latin typeface="Arial"/>
              </a:rPr>
              <a:t>Validation &amp; errors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3374136"/>
            <a:ext cx="44348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10" b="0">
                <a:solidFill>
                  <a:srgbClr val="627D98"/>
                </a:solidFill>
                <a:latin typeface="Arial"/>
              </a:rPr>
              <a:t>Input validation and centralised exception handling improve reliability.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4306824"/>
            <a:ext cx="5212080" cy="1161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94360" y="4306824"/>
            <a:ext cx="64008" cy="116128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4471416"/>
            <a:ext cx="44805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20" b="1">
                <a:solidFill>
                  <a:srgbClr val="102A43"/>
                </a:solidFill>
                <a:latin typeface="Arial"/>
              </a:rPr>
              <a:t>Configuration safety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818888"/>
            <a:ext cx="44348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10" b="0">
                <a:solidFill>
                  <a:srgbClr val="627D98"/>
                </a:solidFill>
                <a:latin typeface="Arial"/>
              </a:rPr>
              <a:t>DB, Gemini and mail secrets are supplied through environment variables.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4306824"/>
            <a:ext cx="5212080" cy="1161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17920" y="4306824"/>
            <a:ext cx="64008" cy="1161288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46520" y="4471416"/>
            <a:ext cx="44805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20" b="1">
                <a:solidFill>
                  <a:srgbClr val="102A43"/>
                </a:solidFill>
                <a:latin typeface="Arial"/>
              </a:rPr>
              <a:t>AI fallback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818888"/>
            <a:ext cx="44348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10" b="0">
                <a:solidFill>
                  <a:srgbClr val="627D98"/>
                </a:solidFill>
                <a:latin typeface="Arial"/>
              </a:rPr>
              <a:t>Core application remains usable when external AI is unavailable.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2563EB"/>
                </a:solidFill>
                <a:latin typeface="Arial"/>
              </a:rPr>
              <a:t>10 · HOW THE PROJECT WAS DEVELOPED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21207"/>
            <a:ext cx="11064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>
                <a:solidFill>
                  <a:srgbClr val="102A43"/>
                </a:solidFill>
                <a:latin typeface="Arial"/>
              </a:rPr>
              <a:t>Software Development Life Cycle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78992"/>
            <a:ext cx="11201400" cy="0"/>
          </a:xfrm>
          <a:prstGeom prst="line">
            <a:avLst/>
          </a:prstGeom>
          <a:ln w="1270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0" y="6510528"/>
            <a:ext cx="12143232" cy="256032"/>
          </a:xfrm>
          <a:prstGeom prst="rect">
            <a:avLst/>
          </a:prstGeom>
          <a:solidFill>
            <a:srgbClr val="102A43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6547104"/>
            <a:ext cx="7772400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>
                <a:solidFill>
                  <a:srgbClr val="D9E2EC"/>
                </a:solidFill>
                <a:latin typeface="Arial"/>
              </a:rPr>
              <a:t>Smart Expense Tracker with AI Financial Advisor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547104"/>
            <a:ext cx="1051560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>
                <a:solidFill>
                  <a:srgbClr val="D9E2EC"/>
                </a:solidFill>
                <a:latin typeface="Arial"/>
              </a:rPr>
              <a:t>Major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22608" y="6547104"/>
            <a:ext cx="201168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>
                <a:solidFill>
                  <a:srgbClr val="D9E2EC"/>
                </a:solidFill>
                <a:latin typeface="Arial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81328"/>
            <a:ext cx="13716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41832" y="1664208"/>
            <a:ext cx="457200" cy="27432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" y="1682496"/>
            <a:ext cx="38404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2121408"/>
            <a:ext cx="122529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80" b="1">
                <a:solidFill>
                  <a:srgbClr val="102A43"/>
                </a:solidFill>
                <a:latin typeface="Arial"/>
              </a:rPr>
              <a:t>Planning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496312"/>
            <a:ext cx="122529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30" b="0">
                <a:solidFill>
                  <a:srgbClr val="627D98"/>
                </a:solidFill>
                <a:latin typeface="Arial"/>
              </a:rPr>
              <a:t>Problem + goals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74519" y="2176272"/>
            <a:ext cx="292609" cy="0"/>
          </a:xfrm>
          <a:prstGeom prst="line">
            <a:avLst/>
          </a:prstGeom>
          <a:ln w="15240">
            <a:solidFill>
              <a:srgbClr val="A7B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167128" y="1481328"/>
            <a:ext cx="13716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606040" y="1664208"/>
            <a:ext cx="457200" cy="274320"/>
          </a:xfrm>
          <a:prstGeom prst="roundRect">
            <a:avLst/>
          </a:prstGeom>
          <a:solidFill>
            <a:srgbClr val="0EA5A8"/>
          </a:solidFill>
          <a:ln w="12700">
            <a:solidFill>
              <a:srgbClr val="0EA5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42616" y="1682496"/>
            <a:ext cx="38404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2121408"/>
            <a:ext cx="122529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80" b="1">
                <a:solidFill>
                  <a:srgbClr val="102A43"/>
                </a:solidFill>
                <a:latin typeface="Arial"/>
              </a:rPr>
              <a:t>Requirements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2496312"/>
            <a:ext cx="122529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30" b="0">
                <a:solidFill>
                  <a:srgbClr val="627D98"/>
                </a:solidFill>
                <a:latin typeface="Arial"/>
              </a:rPr>
              <a:t>Functional + non-functional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538728" y="2176272"/>
            <a:ext cx="292608" cy="0"/>
          </a:xfrm>
          <a:prstGeom prst="line">
            <a:avLst/>
          </a:prstGeom>
          <a:ln w="15240">
            <a:solidFill>
              <a:srgbClr val="A7B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831336" y="1481328"/>
            <a:ext cx="13716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4270248" y="1664208"/>
            <a:ext cx="457200" cy="274320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06824" y="1682496"/>
            <a:ext cx="38404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04488" y="2121408"/>
            <a:ext cx="122529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80" b="1">
                <a:solidFill>
                  <a:srgbClr val="102A43"/>
                </a:solidFill>
                <a:latin typeface="Arial"/>
              </a:rPr>
              <a:t>Design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04488" y="2496312"/>
            <a:ext cx="122529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30" b="0">
                <a:solidFill>
                  <a:srgbClr val="627D98"/>
                </a:solidFill>
                <a:latin typeface="Arial"/>
              </a:rPr>
              <a:t>Architecture + database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202936" y="2176272"/>
            <a:ext cx="292608" cy="0"/>
          </a:xfrm>
          <a:prstGeom prst="line">
            <a:avLst/>
          </a:prstGeom>
          <a:ln w="15240">
            <a:solidFill>
              <a:srgbClr val="A7B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495544" y="1481328"/>
            <a:ext cx="13716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934456" y="1664208"/>
            <a:ext cx="457200" cy="274320"/>
          </a:xfrm>
          <a:prstGeom prst="roundRect">
            <a:avLst/>
          </a:prstGeom>
          <a:solidFill>
            <a:srgbClr val="059669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971032" y="1682496"/>
            <a:ext cx="38404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68696" y="2121408"/>
            <a:ext cx="122529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80" b="1">
                <a:solidFill>
                  <a:srgbClr val="102A43"/>
                </a:solidFill>
                <a:latin typeface="Arial"/>
              </a:rPr>
              <a:t>Implementation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68696" y="2496312"/>
            <a:ext cx="122529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30" b="0">
                <a:solidFill>
                  <a:srgbClr val="627D98"/>
                </a:solidFill>
                <a:latin typeface="Arial"/>
              </a:rPr>
              <a:t>Modules + APIs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67144" y="2176272"/>
            <a:ext cx="292608" cy="0"/>
          </a:xfrm>
          <a:prstGeom prst="line">
            <a:avLst/>
          </a:prstGeom>
          <a:ln w="15240">
            <a:solidFill>
              <a:srgbClr val="A7B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7159752" y="1481328"/>
            <a:ext cx="13716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7598664" y="1664208"/>
            <a:ext cx="457200" cy="274320"/>
          </a:xfrm>
          <a:prstGeom prst="roundRect">
            <a:avLst/>
          </a:prstGeom>
          <a:solidFill>
            <a:srgbClr val="D9770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635240" y="1682496"/>
            <a:ext cx="38404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32904" y="2121408"/>
            <a:ext cx="122529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80" b="1">
                <a:solidFill>
                  <a:srgbClr val="102A43"/>
                </a:solidFill>
                <a:latin typeface="Arial"/>
              </a:rPr>
              <a:t>Testing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32904" y="2496312"/>
            <a:ext cx="122529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30" b="0">
                <a:solidFill>
                  <a:srgbClr val="627D98"/>
                </a:solidFill>
                <a:latin typeface="Arial"/>
              </a:rPr>
              <a:t>Validation + fixes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531352" y="2176272"/>
            <a:ext cx="292608" cy="0"/>
          </a:xfrm>
          <a:prstGeom prst="line">
            <a:avLst/>
          </a:prstGeom>
          <a:ln w="15240">
            <a:solidFill>
              <a:srgbClr val="A7B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8823960" y="1481328"/>
            <a:ext cx="13716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9262872" y="1664208"/>
            <a:ext cx="457200" cy="27432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299448" y="1682496"/>
            <a:ext cx="38404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97112" y="2121408"/>
            <a:ext cx="122529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80" b="1">
                <a:solidFill>
                  <a:srgbClr val="102A43"/>
                </a:solidFill>
                <a:latin typeface="Arial"/>
              </a:rPr>
              <a:t>Release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97112" y="2496312"/>
            <a:ext cx="122529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30" b="0">
                <a:solidFill>
                  <a:srgbClr val="627D98"/>
                </a:solidFill>
                <a:latin typeface="Arial"/>
              </a:rPr>
              <a:t>Local integrated system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0195560" y="2176272"/>
            <a:ext cx="292608" cy="0"/>
          </a:xfrm>
          <a:prstGeom prst="line">
            <a:avLst/>
          </a:prstGeom>
          <a:ln w="15240">
            <a:solidFill>
              <a:srgbClr val="A7B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10488168" y="1481328"/>
            <a:ext cx="13716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0927080" y="1664208"/>
            <a:ext cx="457200" cy="27432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963656" y="1682496"/>
            <a:ext cx="38404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61320" y="2121408"/>
            <a:ext cx="122529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80" b="1">
                <a:solidFill>
                  <a:srgbClr val="102A43"/>
                </a:solidFill>
                <a:latin typeface="Arial"/>
              </a:rPr>
              <a:t>Maintenance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61320" y="2496312"/>
            <a:ext cx="122529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30" b="0">
                <a:solidFill>
                  <a:srgbClr val="627D98"/>
                </a:solidFill>
                <a:latin typeface="Arial"/>
              </a:rPr>
              <a:t>Future improvements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4360" y="3383280"/>
            <a:ext cx="256032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450" b="1">
                <a:solidFill>
                  <a:srgbClr val="102A43"/>
                </a:solidFill>
                <a:latin typeface="Arial"/>
              </a:rPr>
              <a:t>P</a:t>
            </a:r>
            <a:r>
              <a:rPr sz="1450" b="1">
                <a:solidFill>
                  <a:srgbClr val="102A43"/>
                </a:solidFill>
                <a:latin typeface="Arial"/>
              </a:rPr>
              <a:t>roject </a:t>
            </a:r>
            <a:r>
              <a:rPr sz="1450" b="1" dirty="0">
                <a:solidFill>
                  <a:srgbClr val="102A43"/>
                </a:solidFill>
                <a:latin typeface="Arial"/>
              </a:rPr>
              <a:t>work plan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94360" y="3822191"/>
            <a:ext cx="34290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04088" y="3941063"/>
            <a:ext cx="548640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40" b="1">
                <a:solidFill>
                  <a:srgbClr val="2563EB"/>
                </a:solidFill>
                <a:latin typeface="Arial"/>
              </a:rPr>
              <a:t>1–2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25880" y="3922776"/>
            <a:ext cx="246888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30" b="0">
                <a:solidFill>
                  <a:srgbClr val="102A43"/>
                </a:solidFill>
                <a:latin typeface="Arial"/>
              </a:rPr>
              <a:t>Requirements + literature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43400" y="3822191"/>
            <a:ext cx="34290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453128" y="3941063"/>
            <a:ext cx="548640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40" b="1">
                <a:solidFill>
                  <a:srgbClr val="2563EB"/>
                </a:solidFill>
                <a:latin typeface="Arial"/>
              </a:rP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74920" y="3922776"/>
            <a:ext cx="246888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30" b="0">
                <a:solidFill>
                  <a:srgbClr val="102A43"/>
                </a:solidFill>
                <a:latin typeface="Arial"/>
              </a:rPr>
              <a:t>System design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92440" y="3822191"/>
            <a:ext cx="34290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202167" y="3941063"/>
            <a:ext cx="548640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40" b="1">
                <a:solidFill>
                  <a:srgbClr val="2563EB"/>
                </a:solidFill>
                <a:latin typeface="Arial"/>
              </a:rP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23960" y="3922776"/>
            <a:ext cx="246888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30" b="0">
                <a:solidFill>
                  <a:srgbClr val="102A43"/>
                </a:solidFill>
                <a:latin typeface="Arial"/>
              </a:rPr>
              <a:t>Authentication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94360" y="4471416"/>
            <a:ext cx="34290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04088" y="4590288"/>
            <a:ext cx="548640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40" b="1">
                <a:solidFill>
                  <a:srgbClr val="2563EB"/>
                </a:solidFill>
                <a:latin typeface="Arial"/>
              </a:rPr>
              <a:t>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25880" y="4572000"/>
            <a:ext cx="246888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30" b="0">
                <a:solidFill>
                  <a:srgbClr val="102A43"/>
                </a:solidFill>
                <a:latin typeface="Arial"/>
              </a:rPr>
              <a:t>Income + expenses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343400" y="4471416"/>
            <a:ext cx="34290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453128" y="4590288"/>
            <a:ext cx="548640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40" b="1">
                <a:solidFill>
                  <a:srgbClr val="2563EB"/>
                </a:solidFill>
                <a:latin typeface="Arial"/>
              </a:rP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74920" y="4572000"/>
            <a:ext cx="246888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30" b="0">
                <a:solidFill>
                  <a:srgbClr val="102A43"/>
                </a:solidFill>
                <a:latin typeface="Arial"/>
              </a:rPr>
              <a:t>Budgets + dashboard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92440" y="4471416"/>
            <a:ext cx="34290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8202167" y="4590288"/>
            <a:ext cx="548640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40" b="1">
                <a:solidFill>
                  <a:srgbClr val="2563EB"/>
                </a:solidFill>
                <a:latin typeface="Arial"/>
              </a:rPr>
              <a:t>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23960" y="4572000"/>
            <a:ext cx="246888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30" b="0">
                <a:solidFill>
                  <a:srgbClr val="102A43"/>
                </a:solidFill>
                <a:latin typeface="Arial"/>
              </a:rPr>
              <a:t>Reports + AI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94360" y="5120640"/>
            <a:ext cx="34290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04088" y="5239512"/>
            <a:ext cx="548640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40" b="1">
                <a:solidFill>
                  <a:srgbClr val="2563EB"/>
                </a:solidFill>
                <a:latin typeface="Arial"/>
              </a:rPr>
              <a:t>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325880" y="5221224"/>
            <a:ext cx="246888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30" b="0">
                <a:solidFill>
                  <a:srgbClr val="102A43"/>
                </a:solidFill>
                <a:latin typeface="Arial"/>
              </a:rPr>
              <a:t>Frontend integration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343400" y="5120640"/>
            <a:ext cx="34290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4453128" y="5239512"/>
            <a:ext cx="548640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40" b="1">
                <a:solidFill>
                  <a:srgbClr val="2563EB"/>
                </a:solidFill>
                <a:latin typeface="Arial"/>
              </a:rP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74920" y="5221224"/>
            <a:ext cx="246888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30" b="0">
                <a:solidFill>
                  <a:srgbClr val="102A43"/>
                </a:solidFill>
                <a:latin typeface="Arial"/>
              </a:rPr>
              <a:t>Testing + debugging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092440" y="5120640"/>
            <a:ext cx="3429000" cy="457200"/>
          </a:xfrm>
          <a:prstGeom prst="roundRect">
            <a:avLst/>
          </a:prstGeom>
          <a:solidFill>
            <a:srgbClr val="E7F8F3"/>
          </a:solidFill>
          <a:ln w="12700">
            <a:solidFill>
              <a:srgbClr val="C8E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8202167" y="5239512"/>
            <a:ext cx="548640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40" b="1">
                <a:solidFill>
                  <a:srgbClr val="059669"/>
                </a:solidFill>
                <a:latin typeface="Arial"/>
              </a:rPr>
              <a:t>10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823960" y="5221224"/>
            <a:ext cx="246888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30" b="1">
                <a:solidFill>
                  <a:srgbClr val="102A43"/>
                </a:solidFill>
                <a:latin typeface="Arial"/>
              </a:rPr>
              <a:t>Documentation + presentation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2563EB"/>
                </a:solidFill>
                <a:latin typeface="Arial"/>
              </a:rPr>
              <a:t>11 ·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21207"/>
            <a:ext cx="11064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>
                <a:solidFill>
                  <a:srgbClr val="102A43"/>
                </a:solidFill>
                <a:latin typeface="Arial"/>
              </a:rPr>
              <a:t>Testing &amp; Current Project Status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78992"/>
            <a:ext cx="11201400" cy="0"/>
          </a:xfrm>
          <a:prstGeom prst="line">
            <a:avLst/>
          </a:prstGeom>
          <a:ln w="1270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0" y="6510528"/>
            <a:ext cx="12143232" cy="256032"/>
          </a:xfrm>
          <a:prstGeom prst="rect">
            <a:avLst/>
          </a:prstGeom>
          <a:solidFill>
            <a:srgbClr val="102A43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6547104"/>
            <a:ext cx="7772400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>
                <a:solidFill>
                  <a:srgbClr val="D9E2EC"/>
                </a:solidFill>
                <a:latin typeface="Arial"/>
              </a:rPr>
              <a:t>Smart Expense Tracker with AI Financial Advisor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547104"/>
            <a:ext cx="1051560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>
                <a:solidFill>
                  <a:srgbClr val="D9E2EC"/>
                </a:solidFill>
                <a:latin typeface="Arial"/>
              </a:rPr>
              <a:t>Major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22608" y="6547104"/>
            <a:ext cx="201168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>
                <a:solidFill>
                  <a:srgbClr val="D9E2EC"/>
                </a:solidFill>
                <a:latin typeface="Arial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17320"/>
            <a:ext cx="525780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8" y="1682496"/>
            <a:ext cx="1234440" cy="274320"/>
          </a:xfrm>
          <a:prstGeom prst="roundRect">
            <a:avLst/>
          </a:prstGeom>
          <a:solidFill>
            <a:srgbClr val="E7F8F3"/>
          </a:solidFill>
          <a:ln w="12700">
            <a:solidFill>
              <a:srgbClr val="E7F8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7824" y="1700784"/>
            <a:ext cx="116128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059669"/>
                </a:solidFill>
                <a:latin typeface="Arial"/>
              </a:rPr>
              <a:t>VALIDATED FLOW</a:t>
            </a:r>
          </a:p>
        </p:txBody>
      </p:sp>
      <p:sp>
        <p:nvSpPr>
          <p:cNvPr id="12" name="Oval 11"/>
          <p:cNvSpPr/>
          <p:nvPr/>
        </p:nvSpPr>
        <p:spPr>
          <a:xfrm>
            <a:off x="841248" y="2331720"/>
            <a:ext cx="73152" cy="7315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96696" y="2212848"/>
            <a:ext cx="437083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90" b="0">
                <a:solidFill>
                  <a:srgbClr val="243B53"/>
                </a:solidFill>
                <a:latin typeface="Arial"/>
              </a:rPr>
              <a:t>Application starts with MySQL connected</a:t>
            </a:r>
          </a:p>
        </p:txBody>
      </p:sp>
      <p:sp>
        <p:nvSpPr>
          <p:cNvPr id="14" name="Oval 13"/>
          <p:cNvSpPr/>
          <p:nvPr/>
        </p:nvSpPr>
        <p:spPr>
          <a:xfrm>
            <a:off x="841248" y="2916936"/>
            <a:ext cx="73152" cy="7315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96696" y="2798064"/>
            <a:ext cx="437083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90" b="0">
                <a:solidFill>
                  <a:srgbClr val="243B53"/>
                </a:solidFill>
                <a:latin typeface="Arial"/>
              </a:rPr>
              <a:t>User registration and login flow</a:t>
            </a:r>
          </a:p>
        </p:txBody>
      </p:sp>
      <p:sp>
        <p:nvSpPr>
          <p:cNvPr id="16" name="Oval 15"/>
          <p:cNvSpPr/>
          <p:nvPr/>
        </p:nvSpPr>
        <p:spPr>
          <a:xfrm>
            <a:off x="841248" y="3502152"/>
            <a:ext cx="73152" cy="7315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96696" y="3383280"/>
            <a:ext cx="437083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90" b="0">
                <a:solidFill>
                  <a:srgbClr val="243B53"/>
                </a:solidFill>
                <a:latin typeface="Arial"/>
              </a:rPr>
              <a:t>Add and delete expense flow</a:t>
            </a:r>
          </a:p>
        </p:txBody>
      </p:sp>
      <p:sp>
        <p:nvSpPr>
          <p:cNvPr id="18" name="Oval 17"/>
          <p:cNvSpPr/>
          <p:nvPr/>
        </p:nvSpPr>
        <p:spPr>
          <a:xfrm>
            <a:off x="841248" y="4087368"/>
            <a:ext cx="73152" cy="7315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96696" y="3968496"/>
            <a:ext cx="437083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90" b="0">
                <a:solidFill>
                  <a:srgbClr val="243B53"/>
                </a:solidFill>
                <a:latin typeface="Arial"/>
              </a:rPr>
              <a:t>AI Financial Advisor flow</a:t>
            </a:r>
          </a:p>
        </p:txBody>
      </p:sp>
      <p:sp>
        <p:nvSpPr>
          <p:cNvPr id="20" name="Oval 19"/>
          <p:cNvSpPr/>
          <p:nvPr/>
        </p:nvSpPr>
        <p:spPr>
          <a:xfrm>
            <a:off x="841248" y="4672584"/>
            <a:ext cx="73152" cy="7315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96696" y="4553712"/>
            <a:ext cx="437083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90" b="0">
                <a:solidFill>
                  <a:srgbClr val="243B53"/>
                </a:solidFill>
                <a:latin typeface="Arial"/>
              </a:rPr>
              <a:t>Protected navigation / logout behaviour</a:t>
            </a:r>
          </a:p>
        </p:txBody>
      </p:sp>
      <p:sp>
        <p:nvSpPr>
          <p:cNvPr id="22" name="Oval 21"/>
          <p:cNvSpPr/>
          <p:nvPr/>
        </p:nvSpPr>
        <p:spPr>
          <a:xfrm>
            <a:off x="841248" y="5257800"/>
            <a:ext cx="73152" cy="7315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96696" y="5138928"/>
            <a:ext cx="437083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90" b="0">
                <a:solidFill>
                  <a:srgbClr val="243B53"/>
                </a:solidFill>
                <a:latin typeface="Arial"/>
              </a:rPr>
              <a:t>Backend Maven package build succeeds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44768" y="1417320"/>
            <a:ext cx="54406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00800" y="1682496"/>
            <a:ext cx="1234440" cy="274320"/>
          </a:xfrm>
          <a:prstGeom prst="roundRect">
            <a:avLst/>
          </a:prstGeom>
          <a:solidFill>
            <a:srgbClr val="EAF2FF"/>
          </a:solidFill>
          <a:ln w="12700">
            <a:solidFill>
              <a:srgbClr val="EA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7376" y="1700784"/>
            <a:ext cx="116128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2563EB"/>
                </a:solidFill>
                <a:latin typeface="Arial"/>
              </a:rPr>
              <a:t>CURRENT STATUS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19456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100" b="1">
                <a:solidFill>
                  <a:srgbClr val="102A43"/>
                </a:solidFill>
                <a:latin typeface="Arial"/>
              </a:rPr>
              <a:t>Functional academic prototype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816352"/>
            <a:ext cx="44348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60" b="0">
                <a:solidFill>
                  <a:srgbClr val="243B53"/>
                </a:solidFill>
                <a:latin typeface="Arial"/>
              </a:rPr>
              <a:t>The project is sufficiently complete for demonstration while leaving room for stronger automated testing, production security hardening, deployment and deeper analytics.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096512"/>
            <a:ext cx="105156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30" b="1">
                <a:solidFill>
                  <a:srgbClr val="059669"/>
                </a:solidFill>
                <a:latin typeface="Arial"/>
              </a:rPr>
              <a:t>Core modules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0" y="4096512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102A43"/>
                </a:solidFill>
                <a:latin typeface="Arial"/>
              </a:rPr>
              <a:t>Implemented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489704"/>
            <a:ext cx="105156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30" b="1">
                <a:solidFill>
                  <a:srgbClr val="7C3AED"/>
                </a:solidFill>
                <a:latin typeface="Arial"/>
              </a:rPr>
              <a:t>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4489704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102A43"/>
                </a:solidFill>
                <a:latin typeface="Arial"/>
              </a:rPr>
              <a:t>Gemini + fallback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882896"/>
            <a:ext cx="105156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30" b="1">
                <a:solidFill>
                  <a:srgbClr val="D97706"/>
                </a:solidFill>
                <a:latin typeface="Arial"/>
              </a:rPr>
              <a:t>Email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4882896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102A43"/>
                </a:solidFill>
                <a:latin typeface="Arial"/>
              </a:rPr>
              <a:t>Optional / disabled by default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276088"/>
            <a:ext cx="105156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30" b="1">
                <a:solidFill>
                  <a:srgbClr val="2563EB"/>
                </a:solidFill>
                <a:latin typeface="Arial"/>
              </a:rPr>
              <a:t>Deployment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89520" y="5276088"/>
            <a:ext cx="329184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102A43"/>
                </a:solidFill>
                <a:latin typeface="Arial"/>
              </a:rPr>
              <a:t>Local development environment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2563EB"/>
                </a:solidFill>
                <a:latin typeface="Arial"/>
              </a:rPr>
              <a:t>12 ·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21207"/>
            <a:ext cx="11064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>
                <a:solidFill>
                  <a:srgbClr val="102A43"/>
                </a:solidFill>
                <a:latin typeface="Arial"/>
              </a:rPr>
              <a:t>Limitations &amp; Future Scope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78992"/>
            <a:ext cx="11201400" cy="0"/>
          </a:xfrm>
          <a:prstGeom prst="line">
            <a:avLst/>
          </a:prstGeom>
          <a:ln w="1270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0" y="6510528"/>
            <a:ext cx="12143232" cy="256032"/>
          </a:xfrm>
          <a:prstGeom prst="rect">
            <a:avLst/>
          </a:prstGeom>
          <a:solidFill>
            <a:srgbClr val="102A43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6547104"/>
            <a:ext cx="7772400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>
                <a:solidFill>
                  <a:srgbClr val="D9E2EC"/>
                </a:solidFill>
                <a:latin typeface="Arial"/>
              </a:rPr>
              <a:t>Smart Expense Tracker with AI Financial Advisor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547104"/>
            <a:ext cx="1051560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>
                <a:solidFill>
                  <a:srgbClr val="D9E2EC"/>
                </a:solidFill>
                <a:latin typeface="Arial"/>
              </a:rPr>
              <a:t>Major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22608" y="6547104"/>
            <a:ext cx="201168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>
                <a:solidFill>
                  <a:srgbClr val="D9E2EC"/>
                </a:solidFill>
                <a:latin typeface="Arial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17320"/>
            <a:ext cx="5257800" cy="45720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68680" y="1691640"/>
            <a:ext cx="1481328" cy="27432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05256" y="1709928"/>
            <a:ext cx="1408176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D97706"/>
                </a:solidFill>
                <a:latin typeface="Arial"/>
              </a:rPr>
              <a:t>CURRENT LIMITATIONS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2386584"/>
            <a:ext cx="73152" cy="7315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24127" y="2267712"/>
            <a:ext cx="437083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20" b="0">
                <a:solidFill>
                  <a:srgbClr val="243B53"/>
                </a:solidFill>
                <a:latin typeface="Arial"/>
              </a:rPr>
              <a:t>Current release is intended as an academic/local prototype.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3118104"/>
            <a:ext cx="73152" cy="7315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24127" y="2999232"/>
            <a:ext cx="437083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20" b="0">
                <a:solidFill>
                  <a:srgbClr val="243B53"/>
                </a:solidFill>
                <a:latin typeface="Arial"/>
              </a:rPr>
              <a:t>Automated unit, integration and API testing can be expanded.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3849624"/>
            <a:ext cx="73152" cy="7315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24127" y="3730752"/>
            <a:ext cx="437083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20" b="0">
                <a:solidFill>
                  <a:srgbClr val="243B53"/>
                </a:solidFill>
                <a:latin typeface="Arial"/>
              </a:rPr>
              <a:t>Production-grade authentication and authorisation can be strengthened.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4581144"/>
            <a:ext cx="73152" cy="7315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24127" y="4462272"/>
            <a:ext cx="437083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20" b="0">
                <a:solidFill>
                  <a:srgbClr val="243B53"/>
                </a:solidFill>
                <a:latin typeface="Arial"/>
              </a:rPr>
              <a:t>Cloud deployment and monitoring are outside current scope.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4768" y="1417320"/>
            <a:ext cx="5440680" cy="45720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419088" y="1691640"/>
            <a:ext cx="1097280" cy="274320"/>
          </a:xfrm>
          <a:prstGeom prst="roundRect">
            <a:avLst/>
          </a:prstGeom>
          <a:solidFill>
            <a:srgbClr val="EAF2FF"/>
          </a:solidFill>
          <a:ln w="12700">
            <a:solidFill>
              <a:srgbClr val="EA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55664" y="1709928"/>
            <a:ext cx="1024127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2563EB"/>
                </a:solidFill>
                <a:latin typeface="Arial"/>
              </a:rPr>
              <a:t>FUTURE SCOPE</a:t>
            </a:r>
          </a:p>
        </p:txBody>
      </p:sp>
      <p:sp>
        <p:nvSpPr>
          <p:cNvPr id="23" name="Oval 22"/>
          <p:cNvSpPr/>
          <p:nvPr/>
        </p:nvSpPr>
        <p:spPr>
          <a:xfrm>
            <a:off x="6419088" y="2331720"/>
            <a:ext cx="73152" cy="7315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74536" y="2212848"/>
            <a:ext cx="44622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70" b="0">
                <a:solidFill>
                  <a:srgbClr val="243B53"/>
                </a:solidFill>
                <a:latin typeface="Arial"/>
              </a:rPr>
              <a:t>Recurring income and expense support</a:t>
            </a:r>
          </a:p>
        </p:txBody>
      </p:sp>
      <p:sp>
        <p:nvSpPr>
          <p:cNvPr id="25" name="Oval 24"/>
          <p:cNvSpPr/>
          <p:nvPr/>
        </p:nvSpPr>
        <p:spPr>
          <a:xfrm>
            <a:off x="6419088" y="2889503"/>
            <a:ext cx="73152" cy="7315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74536" y="2770632"/>
            <a:ext cx="44622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70" b="0">
                <a:solidFill>
                  <a:srgbClr val="243B53"/>
                </a:solidFill>
                <a:latin typeface="Arial"/>
              </a:rPr>
              <a:t>More advanced analytics and trend detection</a:t>
            </a:r>
          </a:p>
        </p:txBody>
      </p:sp>
      <p:sp>
        <p:nvSpPr>
          <p:cNvPr id="27" name="Oval 26"/>
          <p:cNvSpPr/>
          <p:nvPr/>
        </p:nvSpPr>
        <p:spPr>
          <a:xfrm>
            <a:off x="6419088" y="3447287"/>
            <a:ext cx="73152" cy="7315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74536" y="3328415"/>
            <a:ext cx="44622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70" b="0">
                <a:solidFill>
                  <a:srgbClr val="243B53"/>
                </a:solidFill>
                <a:latin typeface="Arial"/>
              </a:rPr>
              <a:t>Improved AI context handling</a:t>
            </a:r>
          </a:p>
        </p:txBody>
      </p:sp>
      <p:sp>
        <p:nvSpPr>
          <p:cNvPr id="29" name="Oval 28"/>
          <p:cNvSpPr/>
          <p:nvPr/>
        </p:nvSpPr>
        <p:spPr>
          <a:xfrm>
            <a:off x="6419088" y="4005072"/>
            <a:ext cx="73152" cy="7315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74536" y="3886200"/>
            <a:ext cx="44622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70" b="0">
                <a:solidFill>
                  <a:srgbClr val="243B53"/>
                </a:solidFill>
                <a:latin typeface="Arial"/>
              </a:rPr>
              <a:t>Additional export formats</a:t>
            </a:r>
          </a:p>
        </p:txBody>
      </p:sp>
      <p:sp>
        <p:nvSpPr>
          <p:cNvPr id="31" name="Oval 30"/>
          <p:cNvSpPr/>
          <p:nvPr/>
        </p:nvSpPr>
        <p:spPr>
          <a:xfrm>
            <a:off x="6419088" y="4562855"/>
            <a:ext cx="73152" cy="7315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74536" y="4443983"/>
            <a:ext cx="44622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70" b="0">
                <a:solidFill>
                  <a:srgbClr val="243B53"/>
                </a:solidFill>
                <a:latin typeface="Arial"/>
              </a:rPr>
              <a:t>Database migration tooling and monitoring</a:t>
            </a:r>
          </a:p>
        </p:txBody>
      </p:sp>
      <p:sp>
        <p:nvSpPr>
          <p:cNvPr id="33" name="Oval 32"/>
          <p:cNvSpPr/>
          <p:nvPr/>
        </p:nvSpPr>
        <p:spPr>
          <a:xfrm>
            <a:off x="6419088" y="5120640"/>
            <a:ext cx="73152" cy="7315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74536" y="5001768"/>
            <a:ext cx="44622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70" b="0">
                <a:solidFill>
                  <a:srgbClr val="243B53"/>
                </a:solidFill>
                <a:latin typeface="Arial"/>
              </a:rPr>
              <a:t>Production/cloud deployment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38404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2563EB"/>
                </a:solidFill>
                <a:latin typeface="Arial"/>
              </a:rPr>
              <a:t>13 · PRESENTATION 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21207"/>
            <a:ext cx="110642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>
                <a:solidFill>
                  <a:srgbClr val="102A43"/>
                </a:solidFill>
                <a:latin typeface="Arial"/>
              </a:rPr>
              <a:t>Recommended Live Demonstration Flow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78992"/>
            <a:ext cx="11201400" cy="0"/>
          </a:xfrm>
          <a:prstGeom prst="line">
            <a:avLst/>
          </a:prstGeom>
          <a:ln w="12700">
            <a:solidFill>
              <a:srgbClr val="D9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0" y="6510528"/>
            <a:ext cx="12143232" cy="256032"/>
          </a:xfrm>
          <a:prstGeom prst="rect">
            <a:avLst/>
          </a:prstGeom>
          <a:solidFill>
            <a:srgbClr val="102A43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6547104"/>
            <a:ext cx="7772400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0">
                <a:solidFill>
                  <a:srgbClr val="D9E2EC"/>
                </a:solidFill>
                <a:latin typeface="Arial"/>
              </a:rPr>
              <a:t>Smart Expense Tracker with AI Financial Advisor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547104"/>
            <a:ext cx="1051560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>
                <a:solidFill>
                  <a:srgbClr val="D9E2EC"/>
                </a:solidFill>
                <a:latin typeface="Arial"/>
              </a:rPr>
              <a:t>Major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22608" y="6547104"/>
            <a:ext cx="201168" cy="91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750" b="0">
                <a:solidFill>
                  <a:srgbClr val="D9E2EC"/>
                </a:solidFill>
                <a:latin typeface="Arial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508760"/>
            <a:ext cx="26060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58952" y="1673351"/>
            <a:ext cx="502920" cy="27432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5528" y="1691639"/>
            <a:ext cx="42976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2167128"/>
            <a:ext cx="226771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50" b="1">
                <a:solidFill>
                  <a:srgbClr val="102A43"/>
                </a:solidFill>
                <a:latin typeface="Arial"/>
              </a:rPr>
              <a:t>Login / Register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7288" y="1508760"/>
            <a:ext cx="26060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611880" y="1673351"/>
            <a:ext cx="502920" cy="27432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48456" y="1691639"/>
            <a:ext cx="42976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167128"/>
            <a:ext cx="226771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50" b="1">
                <a:solidFill>
                  <a:srgbClr val="102A43"/>
                </a:solidFill>
                <a:latin typeface="Arial"/>
              </a:rPr>
              <a:t>Dashboard overview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0216" y="1508760"/>
            <a:ext cx="26060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464808" y="1673351"/>
            <a:ext cx="502920" cy="27432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01384" y="1691639"/>
            <a:ext cx="42976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2167128"/>
            <a:ext cx="226771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50" b="1">
                <a:solidFill>
                  <a:srgbClr val="102A43"/>
                </a:solidFill>
                <a:latin typeface="Arial"/>
              </a:rPr>
              <a:t>Add income + expense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53144" y="1508760"/>
            <a:ext cx="26060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317736" y="1673351"/>
            <a:ext cx="502920" cy="27432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54311" y="1691639"/>
            <a:ext cx="42976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17736" y="2167128"/>
            <a:ext cx="226771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50" b="1">
                <a:solidFill>
                  <a:srgbClr val="102A43"/>
                </a:solidFill>
                <a:latin typeface="Arial"/>
              </a:rPr>
              <a:t>Create budget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3383279"/>
            <a:ext cx="26060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758952" y="3547872"/>
            <a:ext cx="502920" cy="27432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95528" y="3566160"/>
            <a:ext cx="42976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" y="4041648"/>
            <a:ext cx="226771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50" b="1">
                <a:solidFill>
                  <a:srgbClr val="102A43"/>
                </a:solidFill>
                <a:latin typeface="Arial"/>
              </a:rPr>
              <a:t>Show budget progress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47288" y="3383279"/>
            <a:ext cx="26060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3611880" y="3547872"/>
            <a:ext cx="502920" cy="27432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648456" y="3566160"/>
            <a:ext cx="42976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4041648"/>
            <a:ext cx="226771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50" b="1">
                <a:solidFill>
                  <a:srgbClr val="102A43"/>
                </a:solidFill>
                <a:latin typeface="Arial"/>
              </a:rPr>
              <a:t>Open reports + export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0216" y="3383279"/>
            <a:ext cx="26060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464808" y="3547872"/>
            <a:ext cx="502920" cy="27432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01384" y="3566160"/>
            <a:ext cx="42976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4808" y="4041648"/>
            <a:ext cx="226771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50" b="1">
                <a:solidFill>
                  <a:srgbClr val="102A43"/>
                </a:solidFill>
                <a:latin typeface="Arial"/>
              </a:rPr>
              <a:t>AI Financial Advisor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53144" y="3383279"/>
            <a:ext cx="26060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9317736" y="3547872"/>
            <a:ext cx="502920" cy="27432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354311" y="3566160"/>
            <a:ext cx="429768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17736" y="4041648"/>
            <a:ext cx="226771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50" b="1">
                <a:solidFill>
                  <a:srgbClr val="102A43"/>
                </a:solidFill>
                <a:latin typeface="Arial"/>
              </a:rPr>
              <a:t>Profile + logout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554480" y="5440680"/>
            <a:ext cx="9052560" cy="530352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755648" y="5586984"/>
            <a:ext cx="868680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20" b="0">
                <a:solidFill>
                  <a:srgbClr val="FFFFFF"/>
                </a:solidFill>
                <a:latin typeface="Arial"/>
              </a:rPr>
              <a:t>Keep the demo focused on one complete user journey rather than showing every screen.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658368"/>
            <a:ext cx="1051560" cy="274320"/>
          </a:xfrm>
          <a:prstGeom prst="roundRect">
            <a:avLst/>
          </a:prstGeom>
          <a:solidFill>
            <a:srgbClr val="164E63"/>
          </a:solidFill>
          <a:ln w="12700">
            <a:solidFill>
              <a:srgbClr val="164E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94944" y="676656"/>
            <a:ext cx="978407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>
                <a:solidFill>
                  <a:srgbClr val="8FE8D5"/>
                </a:solidFill>
                <a:latin typeface="Arial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08760"/>
            <a:ext cx="75895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rial"/>
              </a:rPr>
              <a:t>Smart Expense Tracker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84831"/>
            <a:ext cx="777240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350" b="1">
                <a:solidFill>
                  <a:srgbClr val="8FE8D5"/>
                </a:solidFill>
                <a:latin typeface="Arial"/>
              </a:rPr>
              <a:t>with AI Financial Advisor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880360"/>
            <a:ext cx="69951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0">
                <a:solidFill>
                  <a:srgbClr val="D9E2EC"/>
                </a:solidFill>
                <a:latin typeface="Arial"/>
              </a:rPr>
              <a:t>A single full-stack system that connects financial records, budgeting, analytics, reporting and AI-assisted guidance.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005072"/>
            <a:ext cx="123444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80" b="1">
                <a:solidFill>
                  <a:srgbClr val="8FE8D5"/>
                </a:solidFill>
                <a:latin typeface="Arial"/>
              </a:rPr>
              <a:t>Full-stack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47088" y="4005072"/>
            <a:ext cx="502920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80" b="0">
                <a:solidFill>
                  <a:srgbClr val="FFFFFF"/>
                </a:solidFill>
                <a:latin typeface="Arial"/>
              </a:rPr>
              <a:t>React + Spring Boot + MySQL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462272"/>
            <a:ext cx="123444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80" b="1">
                <a:solidFill>
                  <a:srgbClr val="8FE8D5"/>
                </a:solidFill>
                <a:latin typeface="Arial"/>
              </a:rPr>
              <a:t>Practical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088" y="4462272"/>
            <a:ext cx="502920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80" b="0">
                <a:solidFill>
                  <a:srgbClr val="FFFFFF"/>
                </a:solidFill>
                <a:latin typeface="Arial"/>
              </a:rPr>
              <a:t>CRUD + budgets + reports + analytics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919472"/>
            <a:ext cx="123444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80" b="1">
                <a:solidFill>
                  <a:srgbClr val="8FE8D5"/>
                </a:solidFill>
                <a:latin typeface="Arial"/>
              </a:rPr>
              <a:t>AI-assisted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088" y="4919472"/>
            <a:ext cx="502920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80" b="0">
                <a:solidFill>
                  <a:srgbClr val="FFFFFF"/>
                </a:solidFill>
                <a:latin typeface="Arial"/>
              </a:rPr>
              <a:t>Gemini + local fallback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376672"/>
            <a:ext cx="123444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80" b="1">
                <a:solidFill>
                  <a:srgbClr val="8FE8D5"/>
                </a:solidFill>
                <a:latin typeface="Arial"/>
              </a:rPr>
              <a:t>Safer by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7088" y="5376672"/>
            <a:ext cx="5029200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80" b="0">
                <a:solidFill>
                  <a:srgbClr val="FFFFFF"/>
                </a:solidFill>
                <a:latin typeface="Arial"/>
              </a:rPr>
              <a:t>BCrypt + ownership checks + 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1828800"/>
            <a:ext cx="29260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7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587752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50" b="0">
                <a:solidFill>
                  <a:srgbClr val="BCCCDC"/>
                </a:solidFill>
                <a:latin typeface="Arial"/>
              </a:rPr>
              <a:t>Questions &amp; Discussion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05088" y="3657600"/>
            <a:ext cx="502920" cy="50292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345167" y="3657600"/>
            <a:ext cx="502920" cy="502920"/>
          </a:xfrm>
          <a:prstGeom prst="roundRect">
            <a:avLst/>
          </a:prstGeom>
          <a:solidFill>
            <a:srgbClr val="0EA5A8"/>
          </a:solidFill>
          <a:ln w="12700">
            <a:solidFill>
              <a:srgbClr val="0EA5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985248" y="3657600"/>
            <a:ext cx="502920" cy="502920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0625328" y="3657600"/>
            <a:ext cx="502920" cy="502920"/>
          </a:xfrm>
          <a:prstGeom prst="roundRect">
            <a:avLst/>
          </a:prstGeom>
          <a:solidFill>
            <a:srgbClr val="059669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75320" y="4663440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>
                <a:solidFill>
                  <a:srgbClr val="9FB3C8"/>
                </a:solidFill>
                <a:latin typeface="Arial"/>
              </a:rPr>
              <a:t>Major Project • Session 2026–27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1302</Words>
  <Application>Microsoft Office PowerPoint</Application>
  <PresentationFormat>Widescreen</PresentationFormat>
  <Paragraphs>340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gitesh sharma</cp:lastModifiedBy>
  <cp:revision>2</cp:revision>
  <dcterms:created xsi:type="dcterms:W3CDTF">2013-01-27T09:14:16Z</dcterms:created>
  <dcterms:modified xsi:type="dcterms:W3CDTF">2026-09-16T05:32:57Z</dcterms:modified>
  <cp:category/>
</cp:coreProperties>
</file>