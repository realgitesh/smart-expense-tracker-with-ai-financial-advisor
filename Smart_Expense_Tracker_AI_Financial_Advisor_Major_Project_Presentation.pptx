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64" r:id="rId6"/>
    <p:sldId id="272" r:id="rId7"/>
    <p:sldId id="261" r:id="rId8"/>
    <p:sldId id="260" r:id="rId9"/>
    <p:sldId id="273" r:id="rId10"/>
    <p:sldId id="259" r:id="rId11"/>
    <p:sldId id="262" r:id="rId12"/>
    <p:sldId id="263" r:id="rId13"/>
    <p:sldId id="265" r:id="rId14"/>
    <p:sldId id="266" r:id="rId15"/>
    <p:sldId id="267" r:id="rId16"/>
    <p:sldId id="268" r:id="rId17"/>
    <p:sldId id="269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658368"/>
            <a:ext cx="2286000" cy="27432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676656"/>
            <a:ext cx="22128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8FE8D5"/>
                </a:solidFill>
                <a:latin typeface="Arial"/>
              </a:rPr>
              <a:t>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7772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rial"/>
              </a:rPr>
              <a:t>Smart Expense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8FE8D5"/>
                </a:solidFill>
                <a:latin typeface="Arial"/>
              </a:rPr>
              <a:t>with AI Financial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71216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D9E2EC"/>
                </a:solidFill>
                <a:latin typeface="Arial"/>
              </a:rPr>
              <a:t>A full-stack web application for income, expenses, budgeting, analytics, reporting and AI-assisted financial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160520"/>
            <a:ext cx="896112" cy="822960"/>
          </a:xfrm>
          <a:prstGeom prst="roundRect">
            <a:avLst/>
          </a:prstGeom>
          <a:solidFill>
            <a:srgbClr val="173B5A"/>
          </a:solidFill>
          <a:ln w="12700">
            <a:solidFill>
              <a:srgbClr val="245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4425696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React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31352" y="4572000"/>
            <a:ext cx="173736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714232" y="4160520"/>
            <a:ext cx="896112" cy="822960"/>
          </a:xfrm>
          <a:prstGeom prst="roundRect">
            <a:avLst/>
          </a:prstGeom>
          <a:solidFill>
            <a:srgbClr val="173B5A"/>
          </a:solidFill>
          <a:ln w="12700">
            <a:solidFill>
              <a:srgbClr val="245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9952" y="4425696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REST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10344" y="4572000"/>
            <a:ext cx="173736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93224" y="4160520"/>
            <a:ext cx="896112" cy="822960"/>
          </a:xfrm>
          <a:prstGeom prst="roundRect">
            <a:avLst/>
          </a:prstGeom>
          <a:solidFill>
            <a:srgbClr val="173B5A"/>
          </a:solidFill>
          <a:ln w="12700">
            <a:solidFill>
              <a:srgbClr val="245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38944" y="4425696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Spring Boot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89336" y="4572000"/>
            <a:ext cx="173736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872216" y="4160520"/>
            <a:ext cx="896112" cy="822960"/>
          </a:xfrm>
          <a:prstGeom prst="roundRect">
            <a:avLst/>
          </a:prstGeom>
          <a:solidFill>
            <a:srgbClr val="173B5A"/>
          </a:solidFill>
          <a:ln w="12700">
            <a:solidFill>
              <a:srgbClr val="245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17936" y="4425696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519" y="5334829"/>
            <a:ext cx="3474720" cy="15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dirty="0">
                <a:solidFill>
                  <a:srgbClr val="BCCCDC"/>
                </a:solidFill>
                <a:latin typeface="Arial"/>
              </a:rPr>
              <a:t>Presented by: Gitesh Sharma</a:t>
            </a:r>
            <a:r>
              <a:rPr lang="en-US" sz="1019" b="0" dirty="0">
                <a:solidFill>
                  <a:srgbClr val="BCCCDC"/>
                </a:solidFill>
                <a:latin typeface="Arial"/>
              </a:rPr>
              <a:t> ,</a:t>
            </a:r>
            <a:endParaRPr sz="1019" b="0" dirty="0">
              <a:solidFill>
                <a:srgbClr val="BCCCDC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66030" y="5757910"/>
            <a:ext cx="4558330" cy="15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9" b="0" dirty="0">
                <a:solidFill>
                  <a:srgbClr val="BCCCDC"/>
                </a:solidFill>
                <a:latin typeface="Arial"/>
              </a:rPr>
              <a:t>Guided by: 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247763"/>
            <a:ext cx="118462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DDE9F2"/>
                </a:solidFill>
                <a:latin typeface="Arial"/>
              </a:rPr>
              <a:t>Roll No.:  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18288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DDE9F2"/>
                </a:solidFill>
                <a:latin typeface="Arial"/>
              </a:rPr>
              <a:t>Section: 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411480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Arial"/>
              </a:rPr>
              <a:t>01 · PRESENTATION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12064"/>
            <a:ext cx="90525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2304A"/>
                </a:solidFill>
                <a:latin typeface="Arial"/>
              </a:rPr>
              <a:t>Agenda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83464"/>
            <a:ext cx="548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C6B7A"/>
                </a:solidFill>
                <a:latin typeface="Arial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" y="6565392"/>
            <a:ext cx="1115568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601968"/>
            <a:ext cx="996696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 i="0">
                <a:solidFill>
                  <a:srgbClr val="12304A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4572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30" b="1" i="0">
                <a:solidFill>
                  <a:srgbClr val="12304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1088136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30" b="0" i="0">
                <a:solidFill>
                  <a:srgbClr val="5C6B7A"/>
                </a:solidFill>
                <a:latin typeface="Arial"/>
              </a:rPr>
              <a:t>The sequence below follows the academic flow requested by the project template; detailed project deep-dives follow afterward.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1636776"/>
            <a:ext cx="457200" cy="310896"/>
          </a:xfrm>
          <a:prstGeom prst="roundRect">
            <a:avLst/>
          </a:prstGeom>
          <a:solidFill>
            <a:srgbClr val="DD7A00"/>
          </a:solidFill>
          <a:ln w="6350">
            <a:solidFill>
              <a:srgbClr val="DD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64592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57276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4708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Existing limitations and project motivation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48716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" y="2642616"/>
            <a:ext cx="457200" cy="310896"/>
          </a:xfrm>
          <a:prstGeom prst="roundRect">
            <a:avLst/>
          </a:prstGeom>
          <a:solidFill>
            <a:srgbClr val="2F6FED"/>
          </a:solidFill>
          <a:ln w="63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65176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257860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285292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What the proposed system should achieve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9300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3648456"/>
            <a:ext cx="457200" cy="310896"/>
          </a:xfrm>
          <a:prstGeom prst="roundRect">
            <a:avLst/>
          </a:prstGeom>
          <a:solidFill>
            <a:srgbClr val="12A7A0"/>
          </a:solidFill>
          <a:ln w="6350">
            <a:solidFill>
              <a:srgbClr val="12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65760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" y="358444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85876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Frontend, backend, database, AI and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9884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4672" y="4654296"/>
            <a:ext cx="457200" cy="310896"/>
          </a:xfrm>
          <a:prstGeom prst="roundRect">
            <a:avLst/>
          </a:prstGeom>
          <a:solidFill>
            <a:srgbClr val="7B54D8"/>
          </a:solidFill>
          <a:ln w="6350">
            <a:solidFill>
              <a:srgbClr val="7B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66344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459028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Literature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86460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Previous systems and research findings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48132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64224" y="1636776"/>
            <a:ext cx="457200" cy="310896"/>
          </a:xfrm>
          <a:prstGeom prst="roundRect">
            <a:avLst/>
          </a:prstGeom>
          <a:solidFill>
            <a:srgbClr val="15A66B"/>
          </a:solidFill>
          <a:ln w="6350">
            <a:solidFill>
              <a:srgbClr val="15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164592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157276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Workflow &amp;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184708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User flow and technical organisation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48716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64224" y="2642616"/>
            <a:ext cx="457200" cy="310896"/>
          </a:xfrm>
          <a:prstGeom prst="roundRect">
            <a:avLst/>
          </a:prstGeom>
          <a:solidFill>
            <a:srgbClr val="DD7A00"/>
          </a:solidFill>
          <a:ln w="6350">
            <a:solidFill>
              <a:srgbClr val="DD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265176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257860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Expected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285292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Results, scope and intended users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493008"/>
            <a:ext cx="52303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64224" y="3648456"/>
            <a:ext cx="457200" cy="310896"/>
          </a:xfrm>
          <a:prstGeom prst="roundRect">
            <a:avLst/>
          </a:prstGeom>
          <a:solidFill>
            <a:srgbClr val="1F4768"/>
          </a:solidFill>
          <a:ln w="6350">
            <a:solidFill>
              <a:srgbClr val="1F47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657600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3584448"/>
            <a:ext cx="424281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3858768"/>
            <a:ext cx="4206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80" b="0" i="0">
                <a:solidFill>
                  <a:srgbClr val="5C6B7A"/>
                </a:solidFill>
                <a:latin typeface="Arial"/>
              </a:rPr>
              <a:t>IEEE-style sources used during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02 ·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Problem &amp; 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89888"/>
            <a:ext cx="5349240" cy="4617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664208"/>
            <a:ext cx="11430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82496"/>
            <a:ext cx="10698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rial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2140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02A43"/>
                </a:solidFill>
                <a:latin typeface="Arial"/>
              </a:rPr>
              <a:t>Personal finance information is often scattered.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907791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2788920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>
                <a:solidFill>
                  <a:srgbClr val="243B53"/>
                </a:solidFill>
                <a:latin typeface="Arial"/>
              </a:rPr>
              <a:t>Income and expenses may be tracked separately.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3814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319272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>
                <a:solidFill>
                  <a:srgbClr val="243B53"/>
                </a:solidFill>
                <a:latin typeface="Arial"/>
              </a:rPr>
              <a:t>Budget limits are difficult to compare with actual spending.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96849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849624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>
                <a:solidFill>
                  <a:srgbClr val="243B53"/>
                </a:solidFill>
                <a:latin typeface="Arial"/>
              </a:rPr>
              <a:t>Spending trends are hard to interpret from raw records.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498847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4379975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>
                <a:solidFill>
                  <a:srgbClr val="243B53"/>
                </a:solidFill>
                <a:latin typeface="Arial"/>
              </a:rPr>
              <a:t>Reports can require manual preparation.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029199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4910327"/>
            <a:ext cx="42336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>
                <a:solidFill>
                  <a:srgbClr val="243B53"/>
                </a:solidFill>
                <a:latin typeface="Arial"/>
              </a:rPr>
              <a:t>Recorded data does not automatically become actionable guidance.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389888"/>
            <a:ext cx="5440680" cy="4617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19088" y="1664208"/>
            <a:ext cx="1417320" cy="274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1682496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PROJECT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121408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02A43"/>
                </a:solidFill>
                <a:latin typeface="Arial"/>
              </a:rPr>
              <a:t>One central web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770632"/>
            <a:ext cx="44348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70" b="0">
                <a:solidFill>
                  <a:srgbClr val="243B53"/>
                </a:solidFill>
                <a:latin typeface="Arial"/>
              </a:rPr>
              <a:t>The system integrates record management, budgeting, analytics, reporting and AI-assisted guidance in one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3822191"/>
            <a:ext cx="2286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47103" y="39319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rial"/>
              </a:rPr>
              <a:t>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18795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1">
                <a:solidFill>
                  <a:srgbClr val="102A43"/>
                </a:solidFill>
                <a:latin typeface="Arial"/>
              </a:rPr>
              <a:t>Income + Expenses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3688" y="3822191"/>
            <a:ext cx="2286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4" y="39319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0EA5A8"/>
                </a:solidFill>
                <a:latin typeface="Arial"/>
              </a:rP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418795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1">
                <a:solidFill>
                  <a:srgbClr val="102A43"/>
                </a:solidFill>
                <a:latin typeface="Arial"/>
              </a:rPr>
              <a:t>Budgets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4754879"/>
            <a:ext cx="2286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7103" y="4864607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rial"/>
              </a:rPr>
              <a:t>UNDERSTAND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5120640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1">
                <a:solidFill>
                  <a:srgbClr val="102A43"/>
                </a:solidFill>
                <a:latin typeface="Arial"/>
              </a:rPr>
              <a:t>Analytics +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33688" y="4754879"/>
            <a:ext cx="22860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61704" y="4864607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059669"/>
                </a:solidFill>
                <a:latin typeface="Arial"/>
              </a:rPr>
              <a:t>GUIDE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5120640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30" b="1">
                <a:solidFill>
                  <a:srgbClr val="102A43"/>
                </a:solidFill>
                <a:latin typeface="Arial"/>
              </a:rPr>
              <a:t>AI Advisor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03 · WHAT THE SYSTEM SHOULD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Aim &amp; Objectives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rial"/>
              </a:rPr>
              <a:t>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00784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>
                <a:solidFill>
                  <a:srgbClr val="102A43"/>
                </a:solidFill>
                <a:latin typeface="Arial"/>
              </a:rPr>
              <a:t>Build a practical full-stack personal finance platform that makes financial information easier to record, monitor, understand and act upon.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24912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0664" y="2880360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88036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918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Registration, login, logout and protected navigation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2724912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62856" y="2880360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898648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88036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Transaction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918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Create, edit, search and delete income and expense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724912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85048" y="2880360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2898648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1976" y="288036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Budget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2918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Category/month/year budgets with actual-vs-planned tracking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2452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0664" y="4379976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398264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3799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Analytics &amp;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914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Dashboard summaries plus PDF and Excel exports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6552" y="422452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562856" y="4379976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9432" y="4398264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43799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AI Financial Advisor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914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Contextual recommendations with a local fallback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38744" y="4224528"/>
            <a:ext cx="34930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85048" y="4379976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21624" y="4398264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43799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Data protection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7914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Validation, ownership checks and BCrypt password hashing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04 · IMPLEMENTATION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Technology Stack &amp; Development Environment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89888"/>
            <a:ext cx="5486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536192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17904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102A43"/>
                </a:solidFill>
                <a:latin typeface="Arial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801368"/>
            <a:ext cx="397763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40" b="0">
                <a:solidFill>
                  <a:srgbClr val="627D98"/>
                </a:solidFill>
                <a:latin typeface="Arial"/>
              </a:rPr>
              <a:t>React Router • Axios • Chart.js/react-chartjs-2 • SweetAlert2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95728"/>
            <a:ext cx="5486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42032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523744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102A43"/>
                </a:solidFill>
                <a:latin typeface="Arial"/>
              </a:rPr>
              <a:t>Java 22 + Spring Boot 3.5.6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807208"/>
            <a:ext cx="397763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40" b="0">
                <a:solidFill>
                  <a:srgbClr val="627D98"/>
                </a:solidFill>
                <a:latin typeface="Arial"/>
              </a:rPr>
              <a:t>Spring Web • Spring Data JPA/Hibernate •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01568"/>
            <a:ext cx="5486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547872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59669"/>
                </a:solidFill>
                <a:latin typeface="Arial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29584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102A43"/>
                </a:solidFill>
                <a:latin typeface="Arial"/>
              </a:rPr>
              <a:t>MySQL 8.x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813048"/>
            <a:ext cx="397763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40" b="0">
                <a:solidFill>
                  <a:srgbClr val="627D98"/>
                </a:solidFill>
                <a:latin typeface="Arial"/>
              </a:rPr>
              <a:t>Relational persistence for users and financial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07408"/>
            <a:ext cx="54864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553712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97706"/>
                </a:solidFill>
                <a:latin typeface="Arial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35424"/>
            <a:ext cx="2240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102A43"/>
                </a:solidFill>
                <a:latin typeface="Arial"/>
              </a:rPr>
              <a:t>Maven Wrapper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18888"/>
            <a:ext cx="397763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40" b="0">
                <a:solidFill>
                  <a:srgbClr val="627D98"/>
                </a:solidFill>
                <a:latin typeface="Arial"/>
              </a:rPr>
              <a:t>Backend build/run through mvnw.cmd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389888"/>
            <a:ext cx="525780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29400" y="1664208"/>
            <a:ext cx="1143000" cy="274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1682496"/>
            <a:ext cx="10698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19456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Backend 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19456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Eclipse IDE for Enterprise Java and Web Developers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69748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Frontend 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69748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Visual Studio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20040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AI/Web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20040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Gemini API + WebClient 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70332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7033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Apache POI + PDFBox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20624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420624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Spring Boot Mail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70916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Source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70916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243B53"/>
                </a:solidFill>
                <a:latin typeface="Arial"/>
              </a:rPr>
              <a:t>Git +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411480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Arial"/>
              </a:rPr>
              <a:t>05 · PREVIOUS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12064"/>
            <a:ext cx="90525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2304A"/>
                </a:solidFill>
                <a:latin typeface="Arial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83464"/>
            <a:ext cx="548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C6B7A"/>
                </a:solidFill>
                <a:latin typeface="Arial"/>
              </a:rPr>
              <a:t>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" y="6565392"/>
            <a:ext cx="1115568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601968"/>
            <a:ext cx="996696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 i="0">
                <a:solidFill>
                  <a:srgbClr val="12304A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4572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30" b="1" i="0">
                <a:solidFill>
                  <a:srgbClr val="12304A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108813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80" b="0" i="0">
                <a:solidFill>
                  <a:srgbClr val="5C6B7A"/>
                </a:solidFill>
                <a:latin typeface="Arial"/>
              </a:rPr>
              <a:t>The literature reviewed in the synopsis spans financial literacy, personal finance management, budgeting, analytics and AI-assisted guidance.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" y="1444752"/>
          <a:ext cx="1124712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S.No</a:t>
                      </a:r>
                    </a:p>
                  </a:txBody>
                  <a:tcPr marL="45720" marR="45720" marT="27432" marB="2743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L="45720" marR="45720" marT="27432" marB="2743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Author(s)</a:t>
                      </a:r>
                    </a:p>
                  </a:txBody>
                  <a:tcPr marL="45720" marR="45720" marT="27432" marB="2743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Journal / Year</a:t>
                      </a:r>
                    </a:p>
                  </a:txBody>
                  <a:tcPr marL="45720" marR="45720" marT="27432" marB="27432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Key Findings</a:t>
                      </a:r>
                    </a:p>
                  </a:txBody>
                  <a:tcPr marL="45720" marR="45720" marT="27432" marB="27432"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The Economic Importance of Financial Literacy: Theory and Evidence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Lusardi, A.; Mitchell, O. 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Journal of Economic Literature, 2014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Financial knowledge influences household economic decision-making.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The Design and Implementation of Personal Finance Management System Based on Android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Xie, Y.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ICCSAE, 2016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Supports income/expense recording and daily, monthly and annual review.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My Money Manager: An Intelligent Mobile App for Personalized Financial Insight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Parameswaran, S.; Saad, S. Z.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Journal of Digital System Development, 2025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Uses categorisation and spending-pattern analysis for personalised insights.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Expensa: Offline Mobile App for Personal Expense Tracking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Conference paper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ICIC, 2025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Demonstrates offline tracking, monthly budgeting and threshold notifications.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Pembangunan Sistem Pengelolaan dan Analisis Keuangan Pribadi Berbasis Mobile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Artanto, I. S. T.; Sidhi, T. A. P.; Ardanari, P.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Jurnal Informatika Atma Jogja, 2025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Integrates personal-finance management with automated financial analysis.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Finexa: A Personal Finance Management Web Application for Expense Tracking and Budgeting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Conference paper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ICNTE, 2026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303F"/>
                          </a:solidFill>
                          <a:latin typeface="Arial"/>
                        </a:rPr>
                        <a:t>Combines tracking, budgeting, goals, analytics and AI-based conversational guidance.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" y="6089904"/>
            <a:ext cx="10972800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19" b="0" i="1">
                <a:solidFill>
                  <a:srgbClr val="5C6B7A"/>
                </a:solidFill>
                <a:latin typeface="Arial"/>
              </a:rPr>
              <a:t>The proposed project combines these established ideas in one React + Spring Boot + MySQL academic full-stack application with PDF/Excel reporting and Gemini-based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06 · FROM ACTION TO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End-to-End User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048256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Register /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Account setup and protected navigation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67128" y="2962656"/>
            <a:ext cx="301752" cy="0"/>
          </a:xfrm>
          <a:prstGeom prst="line">
            <a:avLst/>
          </a:prstGeom>
          <a:ln w="1651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68880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99232" y="2048256"/>
            <a:ext cx="530352" cy="530352"/>
          </a:xfrm>
          <a:prstGeom prst="ellipse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9232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Income and expense entries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9080" y="2962656"/>
            <a:ext cx="301752" cy="0"/>
          </a:xfrm>
          <a:prstGeom prst="line">
            <a:avLst/>
          </a:prstGeom>
          <a:ln w="1651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70832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01184" y="2048256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Category-based budgets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71032" y="2962656"/>
            <a:ext cx="301752" cy="0"/>
          </a:xfrm>
          <a:prstGeom prst="line">
            <a:avLst/>
          </a:prstGeom>
          <a:ln w="1651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72784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03136" y="2048256"/>
            <a:ext cx="530352" cy="53035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03136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Usage, remaining balance and alerts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72983" y="2962656"/>
            <a:ext cx="301753" cy="0"/>
          </a:xfrm>
          <a:prstGeom prst="line">
            <a:avLst/>
          </a:prstGeom>
          <a:ln w="1651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74736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05088" y="2048256"/>
            <a:ext cx="530352" cy="530352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05088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3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Analyse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Dashboard, charts and reports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774936" y="2962656"/>
            <a:ext cx="301752" cy="0"/>
          </a:xfrm>
          <a:prstGeom prst="line">
            <a:avLst/>
          </a:prstGeom>
          <a:ln w="1651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76688" y="1828800"/>
            <a:ext cx="1600200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607040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07040" y="221284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5" y="277063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02A43"/>
                </a:solidFill>
                <a:latin typeface="Arial"/>
              </a:rPr>
              <a:t>Get guidance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3310128"/>
            <a:ext cx="134416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627D98"/>
                </a:solidFill>
                <a:latin typeface="Arial"/>
              </a:rPr>
              <a:t>AI Financial Advisor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" y="4709160"/>
            <a:ext cx="10058400" cy="822960"/>
          </a:xfrm>
          <a:prstGeom prst="roundRect">
            <a:avLst/>
          </a:prstGeom>
          <a:solidFill>
            <a:srgbClr val="E7F8F3"/>
          </a:solidFill>
          <a:ln w="12700">
            <a:solidFill>
              <a:srgbClr val="C8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25880" y="4956048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20" b="1">
                <a:solidFill>
                  <a:srgbClr val="102A43"/>
                </a:solidFill>
                <a:latin typeface="Arial"/>
              </a:rPr>
              <a:t>One continuous loop: record → plan → monitor → understand →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07 · HOW THE PARTS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System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243B53"/>
                </a:solidFill>
                <a:latin typeface="Arial"/>
              </a:rPr>
              <a:t>The architecture separates presentation, API handling, business rules and database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7627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176272"/>
            <a:ext cx="64008" cy="187451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34056"/>
            <a:ext cx="2075687" cy="12161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Pages • forms • navigation • charts • protected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76272"/>
            <a:ext cx="2194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2176272"/>
            <a:ext cx="64008" cy="1874519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23408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34056"/>
            <a:ext cx="1938528" cy="12161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HTTP requests • JSON data exchange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17627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0" y="2176272"/>
            <a:ext cx="64008" cy="1874519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34086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Spring 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734056"/>
            <a:ext cx="2075687" cy="12161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Controllers • DTOs • services •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76272"/>
            <a:ext cx="2834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2176272"/>
            <a:ext cx="64008" cy="1874519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234086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MySQL + JPA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734056"/>
            <a:ext cx="2578608" cy="12161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Repositories • Hibernate • persistent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108960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32120" y="3108960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75320" y="3108960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0288" y="4572000"/>
            <a:ext cx="3063240" cy="9601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4754880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AI Financial Advisor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5047488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D97706"/>
                </a:solidFill>
                <a:latin typeface="Arial"/>
              </a:rPr>
              <a:t>Gemini API + local fallback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126480" y="4050791"/>
            <a:ext cx="502920" cy="521209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4360" y="4800600"/>
            <a:ext cx="1371600" cy="274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" y="4818888"/>
            <a:ext cx="12984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LAYERED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19379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627D98"/>
                </a:solidFill>
                <a:latin typeface="Arial"/>
              </a:rPr>
              <a:t>Configuration → Controller → DTO → Service →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411480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Arial"/>
              </a:rPr>
              <a:t>08 · WHAT THE PROJECT SHOULD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12064"/>
            <a:ext cx="90525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2304A"/>
                </a:solidFill>
                <a:latin typeface="Arial"/>
              </a:rPr>
              <a:t>Expected Outcome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83464"/>
            <a:ext cx="548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C6B7A"/>
                </a:solidFill>
                <a:latin typeface="Arial"/>
              </a:rPr>
              <a:t>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" y="6565392"/>
            <a:ext cx="1115568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601968"/>
            <a:ext cx="996696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 i="0">
                <a:solidFill>
                  <a:srgbClr val="12304A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4572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30" b="1" i="0">
                <a:solidFill>
                  <a:srgbClr val="12304A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23036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" y="1554480"/>
            <a:ext cx="457200" cy="310896"/>
          </a:xfrm>
          <a:prstGeom prst="roundRect">
            <a:avLst/>
          </a:prstGeom>
          <a:solidFill>
            <a:srgbClr val="2F6FED"/>
          </a:solidFill>
          <a:ln w="635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63624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1481328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Successful budget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1810512"/>
            <a:ext cx="411480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5C6B7A"/>
                </a:solidFill>
                <a:latin typeface="Arial"/>
              </a:rPr>
              <a:t>Users can define budgets, monitor actual spending and identify warning/exceeded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7" y="1353312"/>
            <a:ext cx="523036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91655" y="1554480"/>
            <a:ext cx="457200" cy="310896"/>
          </a:xfrm>
          <a:prstGeom prst="roundRect">
            <a:avLst/>
          </a:prstGeom>
          <a:solidFill>
            <a:srgbClr val="12A7A0"/>
          </a:solidFill>
          <a:ln w="6350">
            <a:solidFill>
              <a:srgbClr val="12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563624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3" y="1481328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Integrated financial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3" y="1810512"/>
            <a:ext cx="411480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5C6B7A"/>
                </a:solidFill>
                <a:latin typeface="Arial"/>
              </a:rPr>
              <a:t>Income, expenses, dashboard summaries, analytics and reports are available in one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09544"/>
            <a:ext cx="523036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3816" y="3410712"/>
            <a:ext cx="457200" cy="310896"/>
          </a:xfrm>
          <a:prstGeom prst="roundRect">
            <a:avLst/>
          </a:prstGeom>
          <a:solidFill>
            <a:srgbClr val="7B54D8"/>
          </a:solidFill>
          <a:ln w="6350">
            <a:solidFill>
              <a:srgbClr val="7B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419856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3337560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AI-assisted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3666744"/>
            <a:ext cx="411480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5C6B7A"/>
                </a:solidFill>
                <a:latin typeface="Arial"/>
              </a:rPr>
              <a:t>Financial context can be transformed into practical suggestions, with local fallback when Gemini is unavailable.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3209544"/>
            <a:ext cx="5230368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91655" y="3410712"/>
            <a:ext cx="457200" cy="310896"/>
          </a:xfrm>
          <a:prstGeom prst="roundRect">
            <a:avLst/>
          </a:prstGeom>
          <a:solidFill>
            <a:srgbClr val="15A66B"/>
          </a:solidFill>
          <a:ln w="6350">
            <a:solidFill>
              <a:srgbClr val="15A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3419856"/>
            <a:ext cx="3840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3" y="3337560"/>
            <a:ext cx="41605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2304A"/>
                </a:solidFill>
                <a:latin typeface="Arial"/>
              </a:rPr>
              <a:t>Practical academic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3" y="3666744"/>
            <a:ext cx="411480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70" b="0" i="0">
                <a:solidFill>
                  <a:srgbClr val="5C6B7A"/>
                </a:solidFill>
                <a:latin typeface="Arial"/>
              </a:rPr>
              <a:t>Supports students, professionals and general users who want centralised personal financial organisation.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184648"/>
            <a:ext cx="1089964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" y="5340096"/>
            <a:ext cx="10552176" cy="28346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22303F"/>
                </a:solidFill>
                <a:latin typeface="Arial"/>
              </a:rPr>
              <a:t>Scope: account management • transactions • budgets • analytics • reports • AI assistance • optional email notifications • responsive browser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6071616"/>
            <a:ext cx="1084478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0" i="1">
                <a:solidFill>
                  <a:srgbClr val="5C6B7A"/>
                </a:solidFill>
                <a:latin typeface="Arial"/>
              </a:rPr>
              <a:t>Future scope includes recurring transactions, deeper analytics, automated testing, stronger production authentication, monitoring and cloud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09 · FUNCTIONAL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Core Modules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1732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4944" y="1600200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5819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14884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Registration, login, logout, protected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93592" y="1600200"/>
            <a:ext cx="384048" cy="384048"/>
          </a:xfrm>
          <a:prstGeom prst="ellipse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17007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5819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14884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CRUD, search, date reports, monthly/yearly 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41732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1600200"/>
            <a:ext cx="384048" cy="38404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7007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15819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Expenses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4884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CRUD, search, categories,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41732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90888" y="1600200"/>
            <a:ext cx="384048" cy="38404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90888" y="17007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4664" y="15819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Budgets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14884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Category/month/year, usage, remaining, over-budget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33756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4944" y="3520440"/>
            <a:ext cx="384048" cy="384048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36210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35021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406908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User-specific, date-range, PDF and Excel exports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333756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93592" y="3520440"/>
            <a:ext cx="384048" cy="384048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93592" y="36210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35021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AI Financial Advisor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3592" y="406908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Gemini recommendations using context + fallback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7648" y="333756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92240" y="3520440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36210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35021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Profile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06908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Update account information and change password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26296" y="3337560"/>
            <a:ext cx="26517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90888" y="3520440"/>
            <a:ext cx="384048" cy="384048"/>
          </a:xfrm>
          <a:prstGeom prst="ellipse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90888" y="36210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84664" y="35021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4069080"/>
            <a:ext cx="224028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0">
                <a:solidFill>
                  <a:srgbClr val="627D98"/>
                </a:solidFill>
                <a:latin typeface="Arial"/>
              </a:rPr>
              <a:t>Summaries, budget progress and charts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10 · MAKING DATA ACTIONABLE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Budget Monitoring &amp; Reports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89888"/>
            <a:ext cx="54864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664208"/>
            <a:ext cx="1234440" cy="274320"/>
          </a:xfrm>
          <a:prstGeom prst="roundRect">
            <a:avLst/>
          </a:prstGeom>
          <a:solidFill>
            <a:srgbClr val="F0E8FF"/>
          </a:solidFill>
          <a:ln w="12700">
            <a:solidFill>
              <a:srgbClr val="F0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682496"/>
            <a:ext cx="11612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Arial"/>
              </a:rPr>
              <a:t>BUDGET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>
                <a:solidFill>
                  <a:srgbClr val="102A43"/>
                </a:solidFill>
                <a:latin typeface="Arial"/>
              </a:rPr>
              <a:t>Planned amount vs actual spending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4203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27D98"/>
                </a:solidFill>
                <a:latin typeface="Arial"/>
              </a:rPr>
              <a:t>Illustrative view of implemented status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82112"/>
            <a:ext cx="4553712" cy="228600"/>
          </a:xfrm>
          <a:prstGeom prst="roundRect">
            <a:avLst/>
          </a:prstGeom>
          <a:solidFill>
            <a:srgbClr val="E6EAF0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3182112"/>
            <a:ext cx="3282696" cy="2286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22191" y="3218688"/>
            <a:ext cx="676656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Arial"/>
              </a:rPr>
              <a:t>72%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058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Spent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3840480"/>
            <a:ext cx="333756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0">
                <a:solidFill>
                  <a:srgbClr val="243B53"/>
                </a:solidFill>
                <a:latin typeface="Arial"/>
              </a:rPr>
              <a:t>Actual expenditure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058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59669"/>
                </a:solidFill>
                <a:latin typeface="Arial"/>
              </a:rPr>
              <a:t>Remaining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434840"/>
            <a:ext cx="333756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0">
                <a:solidFill>
                  <a:srgbClr val="243B53"/>
                </a:solidFill>
                <a:latin typeface="Arial"/>
              </a:rPr>
              <a:t>Planned minus spent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058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97706"/>
                </a:solidFill>
                <a:latin typeface="Arial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65376" y="5029200"/>
            <a:ext cx="333756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70" b="0">
                <a:solidFill>
                  <a:srgbClr val="243B53"/>
                </a:solidFill>
                <a:latin typeface="Arial"/>
              </a:rPr>
              <a:t>Normal / warning / exceeded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389888"/>
            <a:ext cx="530352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65392" y="1664208"/>
            <a:ext cx="1078992" cy="274320"/>
          </a:xfrm>
          <a:prstGeom prst="roundRect">
            <a:avLst/>
          </a:prstGeom>
          <a:solidFill>
            <a:srgbClr val="E7F8F3"/>
          </a:solidFill>
          <a:ln w="12700">
            <a:solidFill>
              <a:srgbClr val="E7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1682496"/>
            <a:ext cx="1005839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59669"/>
                </a:solidFill>
                <a:latin typeface="Arial"/>
              </a:rPr>
              <a:t>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103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50" b="1">
                <a:solidFill>
                  <a:srgbClr val="102A43"/>
                </a:solidFill>
                <a:latin typeface="Arial"/>
              </a:rPr>
              <a:t>User-specific financial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2788920"/>
            <a:ext cx="45537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11696" y="2953512"/>
            <a:ext cx="96012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48272" y="2971800"/>
            <a:ext cx="8869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DC2626"/>
                </a:solidFill>
                <a:latin typeface="Arial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97180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1">
                <a:solidFill>
                  <a:srgbClr val="102A43"/>
                </a:solidFill>
                <a:latin typeface="Arial"/>
              </a:rPr>
              <a:t>Shareable 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5392" y="3657600"/>
            <a:ext cx="45537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711696" y="3822191"/>
            <a:ext cx="960120" cy="274320"/>
          </a:xfrm>
          <a:prstGeom prst="roundRect">
            <a:avLst/>
          </a:prstGeom>
          <a:solidFill>
            <a:srgbClr val="E7F8F3"/>
          </a:solidFill>
          <a:ln w="12700">
            <a:solidFill>
              <a:srgbClr val="E7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48272" y="3840479"/>
            <a:ext cx="8869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59669"/>
                </a:solidFill>
                <a:latin typeface="Arial"/>
              </a:rPr>
              <a:t>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84048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1">
                <a:solidFill>
                  <a:srgbClr val="102A43"/>
                </a:solidFill>
                <a:latin typeface="Arial"/>
              </a:rPr>
              <a:t>Structured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5392" y="4526279"/>
            <a:ext cx="45537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711696" y="4690871"/>
            <a:ext cx="960120" cy="274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48272" y="4709159"/>
            <a:ext cx="8869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DATE RANGE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4709159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60" b="1">
                <a:solidFill>
                  <a:srgbClr val="102A43"/>
                </a:solidFill>
                <a:latin typeface="Arial"/>
              </a:rPr>
              <a:t>Focused period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11 · AI-ASSISTED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AI Financial Advisor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0">
                <a:solidFill>
                  <a:srgbClr val="243B53"/>
                </a:solidFill>
                <a:latin typeface="Arial"/>
              </a:rPr>
              <a:t>The AI feature uses financial context already available inside the application to generate contextual suggestions.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67712"/>
            <a:ext cx="21488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267712"/>
            <a:ext cx="64008" cy="16276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43230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User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25496"/>
            <a:ext cx="1892808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Income • expenses • budgets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267712"/>
            <a:ext cx="21488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54680" y="2267712"/>
            <a:ext cx="64008" cy="162763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43230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Context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825496"/>
            <a:ext cx="1892808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Relevant financial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267712"/>
            <a:ext cx="21488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0" y="2267712"/>
            <a:ext cx="64008" cy="16276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243230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825496"/>
            <a:ext cx="1892808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External AI recommendation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267712"/>
            <a:ext cx="214884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2267712"/>
            <a:ext cx="64008" cy="162763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243230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Arial"/>
              </a:rPr>
              <a:t>Advisor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25496"/>
            <a:ext cx="1892808" cy="9692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627D98"/>
                </a:solidFill>
                <a:latin typeface="Arial"/>
              </a:rPr>
              <a:t>Suggestions and analysis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3081528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3081528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3081528"/>
            <a:ext cx="41148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063240" y="4572000"/>
            <a:ext cx="6035040" cy="868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37560" y="4754880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  <a:latin typeface="Arial"/>
              </a:rPr>
              <a:t>Fallback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736592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102A43"/>
                </a:solidFill>
                <a:latin typeface="Arial"/>
              </a:rPr>
              <a:t>When Gemini is unavailable, a local recommendation mechanism can still provide guidance.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7959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69" b="0">
                <a:solidFill>
                  <a:srgbClr val="627D98"/>
                </a:solidFill>
                <a:latin typeface="Arial"/>
              </a:rPr>
              <a:t>Responsible-use note: AI assistance supports financial awareness; it is not presented as regulated investment advice.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12 · QUALITY &amp;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Security, Reliability &amp; Data Protection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64008" cy="1161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581912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BCrypt password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938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Passwords are hashed before storage for newly registered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64008" cy="1161288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581912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Protected navigation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938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Frontend routes require a logged-in user identifier.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62072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862072"/>
            <a:ext cx="64008" cy="116128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026664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Ownership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7413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Financial actions are scoped to the relevant user.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62072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862072"/>
            <a:ext cx="64008" cy="11612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026664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Validation &amp;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7413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Input validation and centralised exception handling improve reliability.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306824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306824"/>
            <a:ext cx="64008" cy="1161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471416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Configuration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1888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DB, Gemini and mail secrets are supplied through environment variables.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06824"/>
            <a:ext cx="521208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306824"/>
            <a:ext cx="64008" cy="116128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471416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rial"/>
              </a:rPr>
              <a:t>AI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1888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0" b="0">
                <a:solidFill>
                  <a:srgbClr val="627D98"/>
                </a:solidFill>
                <a:latin typeface="Arial"/>
              </a:rPr>
              <a:t>Core application remains usable when external AI is unavailable.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13 · DEVELOPMENT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Software Development Life Cycle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1832" y="1664208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Problem + goals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74519" y="2176272"/>
            <a:ext cx="292609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67128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06040" y="1664208"/>
            <a:ext cx="457200" cy="274320"/>
          </a:xfrm>
          <a:prstGeom prst="roundRect">
            <a:avLst/>
          </a:prstGeom>
          <a:solidFill>
            <a:srgbClr val="0EA5A8"/>
          </a:solidFill>
          <a:ln w="12700"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2616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Functional + non-functional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38728" y="2176272"/>
            <a:ext cx="292608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31336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70248" y="1664208"/>
            <a:ext cx="457200" cy="2743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6824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4488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Architecture + database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02936" y="2176272"/>
            <a:ext cx="292608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95544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934456" y="1664208"/>
            <a:ext cx="457200" cy="27432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71032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8696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Modules + APIs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67144" y="2176272"/>
            <a:ext cx="292608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159752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598664" y="1664208"/>
            <a:ext cx="457200" cy="27432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2904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Validation + fixes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31352" y="2176272"/>
            <a:ext cx="292608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823960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262872" y="1664208"/>
            <a:ext cx="457200" cy="27432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99448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Release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7112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Local integrated system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195560" y="2176272"/>
            <a:ext cx="292608" cy="0"/>
          </a:xfrm>
          <a:prstGeom prst="line">
            <a:avLst/>
          </a:prstGeom>
          <a:ln w="15240">
            <a:solidFill>
              <a:srgbClr val="A7B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488168" y="1481328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927080" y="1664208"/>
            <a:ext cx="45720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63656" y="1682496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61320" y="21214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>
                <a:solidFill>
                  <a:srgbClr val="102A43"/>
                </a:solidFill>
                <a:latin typeface="Arial"/>
              </a:rPr>
              <a:t>Maintenance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2496312"/>
            <a:ext cx="12252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0">
                <a:solidFill>
                  <a:srgbClr val="627D98"/>
                </a:solidFill>
                <a:latin typeface="Arial"/>
              </a:rPr>
              <a:t>Future improvements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338328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102A43"/>
                </a:solidFill>
                <a:latin typeface="Arial"/>
              </a:rPr>
              <a:t>10-week project work plan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3822191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04088" y="3941063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1–2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3922776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Requirements + literature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43400" y="3822191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53128" y="3941063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3922776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System design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822191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02167" y="3941063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3922776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Authentication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4471416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" y="4590288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4572000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Income + expenses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43400" y="4471416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53128" y="4590288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74920" y="4572000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Budgets + dashboard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92440" y="4471416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02167" y="4590288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4572000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Reports + AI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4360" y="5120640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4088" y="523951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5880" y="5221224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Frontend integration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43400" y="5120640"/>
            <a:ext cx="3429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53128" y="523951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2563EB"/>
                </a:solidFill>
                <a:latin typeface="Arial"/>
              </a:rP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74920" y="5221224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0">
                <a:solidFill>
                  <a:srgbClr val="102A43"/>
                </a:solidFill>
                <a:latin typeface="Arial"/>
              </a:rPr>
              <a:t>Testing + debugging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092440" y="5120640"/>
            <a:ext cx="3429000" cy="457200"/>
          </a:xfrm>
          <a:prstGeom prst="roundRect">
            <a:avLst/>
          </a:prstGeom>
          <a:solidFill>
            <a:srgbClr val="E7F8F3"/>
          </a:solidFill>
          <a:ln w="12700">
            <a:solidFill>
              <a:srgbClr val="C8E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02167" y="5239512"/>
            <a:ext cx="54864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1">
                <a:solidFill>
                  <a:srgbClr val="059669"/>
                </a:solidFill>
                <a:latin typeface="Arial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5221224"/>
            <a:ext cx="24688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102A43"/>
                </a:solidFill>
                <a:latin typeface="Arial"/>
              </a:rPr>
              <a:t>Documentation +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14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Testing &amp; Current Project Status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57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1248" y="1682496"/>
            <a:ext cx="1234440" cy="274320"/>
          </a:xfrm>
          <a:prstGeom prst="roundRect">
            <a:avLst/>
          </a:prstGeom>
          <a:solidFill>
            <a:srgbClr val="E7F8F3"/>
          </a:solidFill>
          <a:ln w="12700">
            <a:solidFill>
              <a:srgbClr val="E7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700784"/>
            <a:ext cx="11612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59669"/>
                </a:solidFill>
                <a:latin typeface="Arial"/>
              </a:rPr>
              <a:t>VALIDATED FLOW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33172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" y="2212848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Application starts with MySQL connected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2916936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6" y="2798064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User registration and login flow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50215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3383280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Add and delete expense flow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087368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" y="3968496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AI Financial Advisor flow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67258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6" y="4553712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Protected navigation / logout behaviour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525780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" y="5138928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90" b="0">
                <a:solidFill>
                  <a:srgbClr val="243B53"/>
                </a:solidFill>
                <a:latin typeface="Arial"/>
              </a:rPr>
              <a:t>Backend Maven package build succeeds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1417320"/>
            <a:ext cx="5440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0" y="1682496"/>
            <a:ext cx="1234440" cy="274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1700784"/>
            <a:ext cx="116128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CURRENT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102A43"/>
                </a:solidFill>
                <a:latin typeface="Arial"/>
              </a:rPr>
              <a:t>Functional academic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16352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60" b="0">
                <a:solidFill>
                  <a:srgbClr val="243B53"/>
                </a:solidFill>
                <a:latin typeface="Arial"/>
              </a:rPr>
              <a:t>The project is sufficiently complete for demonstration while leaving room for stronger automated testing, production security hardening, deployment and deeper analytics.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96512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059669"/>
                </a:solidFill>
                <a:latin typeface="Arial"/>
              </a:rPr>
              <a:t>Core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096512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Arial"/>
              </a:rPr>
              <a:t>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89704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7C3AED"/>
                </a:solidFill>
                <a:latin typeface="Arial"/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489704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Arial"/>
              </a:rPr>
              <a:t>Gemini +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82896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D97706"/>
                </a:solidFill>
                <a:latin typeface="Arial"/>
              </a:rPr>
              <a:t>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882896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Arial"/>
              </a:rPr>
              <a:t>Optional / disabled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76088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>
                <a:solidFill>
                  <a:srgbClr val="2563EB"/>
                </a:solidFill>
                <a:latin typeface="Arial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5276088"/>
            <a:ext cx="32918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02A43"/>
                </a:solidFill>
                <a:latin typeface="Arial"/>
              </a:rPr>
              <a:t>Local development environment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15 · BEYOND THE CURRENT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Limitations &amp; Future Scope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57800" cy="457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691640"/>
            <a:ext cx="1481328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170992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rial"/>
              </a:rPr>
              <a:t>CURRENT LIMITATIONS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38658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7" y="2267712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43B53"/>
                </a:solidFill>
                <a:latin typeface="Arial"/>
              </a:rPr>
              <a:t>Current release is intended as an academic/local prototype.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1810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7" y="2999232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43B53"/>
                </a:solidFill>
                <a:latin typeface="Arial"/>
              </a:rPr>
              <a:t>Automated unit, integration and API testing can be expanded.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84962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7" y="3730752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43B53"/>
                </a:solidFill>
                <a:latin typeface="Arial"/>
              </a:rPr>
              <a:t>Production-grade authentication and authorisation can be strengthened.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581144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7" y="4462272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20" b="0">
                <a:solidFill>
                  <a:srgbClr val="243B53"/>
                </a:solidFill>
                <a:latin typeface="Arial"/>
              </a:rPr>
              <a:t>Cloud deployment and monitoring are outside current scope.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417320"/>
            <a:ext cx="544068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9088" y="1691640"/>
            <a:ext cx="1097280" cy="2743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1709928"/>
            <a:ext cx="1024127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FUTURE SCOPE</a:t>
            </a:r>
          </a:p>
        </p:txBody>
      </p:sp>
      <p:sp>
        <p:nvSpPr>
          <p:cNvPr id="23" name="Oval 22"/>
          <p:cNvSpPr/>
          <p:nvPr/>
        </p:nvSpPr>
        <p:spPr>
          <a:xfrm>
            <a:off x="6419088" y="233172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2212848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Recurring income and expense support</a:t>
            </a:r>
          </a:p>
        </p:txBody>
      </p:sp>
      <p:sp>
        <p:nvSpPr>
          <p:cNvPr id="25" name="Oval 24"/>
          <p:cNvSpPr/>
          <p:nvPr/>
        </p:nvSpPr>
        <p:spPr>
          <a:xfrm>
            <a:off x="6419088" y="2889503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74536" y="2770632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More advanced analytics and trend detection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3447287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74536" y="3328415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Improved AI context handling</a:t>
            </a:r>
          </a:p>
        </p:txBody>
      </p:sp>
      <p:sp>
        <p:nvSpPr>
          <p:cNvPr id="29" name="Oval 28"/>
          <p:cNvSpPr/>
          <p:nvPr/>
        </p:nvSpPr>
        <p:spPr>
          <a:xfrm>
            <a:off x="6419088" y="4005072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74536" y="3886200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Additional export formats</a:t>
            </a:r>
          </a:p>
        </p:txBody>
      </p:sp>
      <p:sp>
        <p:nvSpPr>
          <p:cNvPr id="31" name="Oval 30"/>
          <p:cNvSpPr/>
          <p:nvPr/>
        </p:nvSpPr>
        <p:spPr>
          <a:xfrm>
            <a:off x="6419088" y="4562855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74536" y="4443983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Database migration tooling and monitoring</a:t>
            </a:r>
          </a:p>
        </p:txBody>
      </p:sp>
      <p:sp>
        <p:nvSpPr>
          <p:cNvPr id="33" name="Oval 32"/>
          <p:cNvSpPr/>
          <p:nvPr/>
        </p:nvSpPr>
        <p:spPr>
          <a:xfrm>
            <a:off x="6419088" y="5120640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74536" y="5001768"/>
            <a:ext cx="4462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70" b="0">
                <a:solidFill>
                  <a:srgbClr val="243B53"/>
                </a:solidFill>
                <a:latin typeface="Arial"/>
              </a:rPr>
              <a:t>Production/cloud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16 · PROJECT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rial"/>
              </a:rPr>
              <a:t>Recommended Live Demonstration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2014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6510528"/>
            <a:ext cx="12143232" cy="25603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777240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>
                <a:solidFill>
                  <a:srgbClr val="D9E2EC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547104"/>
            <a:ext cx="1051560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2608" y="6547104"/>
            <a:ext cx="201168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>
                <a:solidFill>
                  <a:srgbClr val="D9E2EC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" y="1673351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691639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6712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Login / 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508760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11880" y="1673351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1691639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16712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Dashboard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08760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64808" y="1673351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1691639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16712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Add income + expense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508760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17736" y="1673351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54311" y="1691639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16712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Create budget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383279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8952" y="3547872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566160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404164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Show budget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383279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611880" y="3547872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48456" y="3566160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04164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Open reports + export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383279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64808" y="3547872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01384" y="3566160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04164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AI Financial Advisor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53144" y="3383279"/>
            <a:ext cx="260604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317736" y="3547872"/>
            <a:ext cx="502920" cy="2743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54311" y="3566160"/>
            <a:ext cx="42976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4041648"/>
            <a:ext cx="226771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102A43"/>
                </a:solidFill>
                <a:latin typeface="Arial"/>
              </a:rPr>
              <a:t>Profile + logout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54480" y="5440680"/>
            <a:ext cx="9052560" cy="530352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55648" y="5586984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0">
                <a:solidFill>
                  <a:srgbClr val="FFFFFF"/>
                </a:solidFill>
                <a:latin typeface="Arial"/>
              </a:rPr>
              <a:t>Keep the demo focused on one complete user journey rather than showing every screen.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658368"/>
            <a:ext cx="1051560" cy="274320"/>
          </a:xfrm>
          <a:prstGeom prst="roundRect">
            <a:avLst/>
          </a:prstGeom>
          <a:solidFill>
            <a:srgbClr val="164E63"/>
          </a:solidFill>
          <a:ln w="12700"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676656"/>
            <a:ext cx="978407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8FE8D5"/>
                </a:solidFill>
                <a:latin typeface="Arial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75895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Smart Expense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7772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50" b="1">
                <a:solidFill>
                  <a:srgbClr val="8FE8D5"/>
                </a:solidFill>
                <a:latin typeface="Arial"/>
              </a:rPr>
              <a:t>with AI Financial 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69951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>
                <a:solidFill>
                  <a:srgbClr val="D9E2EC"/>
                </a:solidFill>
                <a:latin typeface="Arial"/>
              </a:rPr>
              <a:t>A single full-stack system that connects financial records, budgeting, analytics, reporting and AI-assisted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05072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8FE8D5"/>
                </a:solidFill>
                <a:latin typeface="Arial"/>
              </a:rPr>
              <a:t>Full-stack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4005072"/>
            <a:ext cx="50292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rial"/>
              </a:rPr>
              <a:t>React + Spring Boot +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462272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8FE8D5"/>
                </a:solidFill>
                <a:latin typeface="Arial"/>
              </a:rPr>
              <a:t>Practical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4462272"/>
            <a:ext cx="50292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rial"/>
              </a:rPr>
              <a:t>CRUD + budgets + reports +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19472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8FE8D5"/>
                </a:solidFill>
                <a:latin typeface="Arial"/>
              </a:rPr>
              <a:t>AI-assisted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4919472"/>
            <a:ext cx="50292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rial"/>
              </a:rPr>
              <a:t>Gemini + local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76672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1">
                <a:solidFill>
                  <a:srgbClr val="8FE8D5"/>
                </a:solidFill>
                <a:latin typeface="Arial"/>
              </a:rPr>
              <a:t>Safer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5376672"/>
            <a:ext cx="50292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0" b="0">
                <a:solidFill>
                  <a:srgbClr val="FFFFFF"/>
                </a:solidFill>
                <a:latin typeface="Arial"/>
              </a:rPr>
              <a:t>BCrypt + ownership checks +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58775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0">
                <a:solidFill>
                  <a:srgbClr val="BCCCDC"/>
                </a:solidFill>
                <a:latin typeface="Arial"/>
              </a:rPr>
              <a:t>Questions &amp; Discussion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3657600"/>
            <a:ext cx="50292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345167" y="3657600"/>
            <a:ext cx="502920" cy="502920"/>
          </a:xfrm>
          <a:prstGeom prst="roundRect">
            <a:avLst/>
          </a:prstGeom>
          <a:solidFill>
            <a:srgbClr val="0EA5A8"/>
          </a:solidFill>
          <a:ln w="12700"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985248" y="3657600"/>
            <a:ext cx="502920" cy="5029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25328" y="3657600"/>
            <a:ext cx="502920" cy="50292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>
                <a:solidFill>
                  <a:srgbClr val="9FB3C8"/>
                </a:solidFill>
                <a:latin typeface="Arial"/>
              </a:rPr>
              <a:t>Major Project • Session 2026–27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74320"/>
            <a:ext cx="411480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2F6FED"/>
                </a:solidFill>
                <a:latin typeface="Arial"/>
              </a:rPr>
              <a:t>17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12064"/>
            <a:ext cx="905256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2304A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283464"/>
            <a:ext cx="548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C6B7A"/>
                </a:solidFill>
                <a:latin typeface="Arial"/>
              </a:rPr>
              <a:t>19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22960"/>
            <a:ext cx="11183112" cy="0"/>
          </a:xfrm>
          <a:prstGeom prst="line">
            <a:avLst/>
          </a:prstGeom>
          <a:ln w="1270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0352" y="6565392"/>
            <a:ext cx="11155680" cy="0"/>
          </a:xfrm>
          <a:prstGeom prst="line">
            <a:avLst/>
          </a:prstGeom>
          <a:ln w="10160">
            <a:solidFill>
              <a:srgbClr val="D8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601968"/>
            <a:ext cx="996696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30" b="1" i="0">
                <a:solidFill>
                  <a:srgbClr val="12304A"/>
                </a:solidFill>
                <a:latin typeface="Arial"/>
              </a:rPr>
              <a:t>Smart Expense Tracker with AI Financial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45720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30" b="1" i="0">
                <a:solidFill>
                  <a:srgbClr val="12304A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C6B7A"/>
                </a:solidFill>
                <a:latin typeface="Arial"/>
              </a:rPr>
              <a:t>IEEE-style numbered references used in the project synopsis and technical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08176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[1] A. Lusardi and O. S. Mitchell, “The Economic Importance of Financial Literacy: Theory and Evidence,” Journal of Economic Literature, vol. 52, no. 1, pp. 5–44, 2014. DOI: 10.1257/jel.52.1.5.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[2] Y. Xie, “The Design and Implementation of Personal Finance Management System Based on Android,” Proc. 2015 5th ICCSAE, 2016. DOI: 10.2991/iccsae-15.2016.118.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44368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[3] S. Parameswaran and S. Z. Saad, “Development and Evaluation of My Money Manager: An Intelligent Mobile App for Personalized Financial Insight,” Journal of Digital System Development, 2025. DOI: 10.32890/jdsd2025.3.2.9.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12463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[4] “Expensa: Offline Mobile App for Personal Expense Tracking,” Proc. 2025 Tenth International Conference on Informatics and Computing (ICIC), 2025. DOI: 10.1109/ICIC68054.2025.11309587.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480559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[5] I. S. T. Artanto, T. A. P. Sidhi, and P. Ardanari, “Pembangunan Sistem Pengelolaan dan Analisis Keuangan Pribadi Berbasis Mobile,” Jurnal Informatika Atma Jogja, vol. 6, no. 1, 2025. DOI: 10.24002/jiaj.v6i1.11598.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48655"/>
            <a:ext cx="5303520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[6] “Finexa: A Personal Finance Management Web Application for Expense Tracking and Budgeting,” 2026 6th Biennial International Conference on Nascent Technologies in Engineering (ICNTE), 2026. DOI: 10.1109/ICNTE66387.2026.11437467.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408176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[7] Meta Open Source, “React Documentation.” https://react.dev/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176272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[8] Spring, “Spring Boot Reference Documentation.” https://docs.spring.io/spring-boot/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[9] Oracle, “MySQL 8.0 Reference Manual.” https://dev.mysql.com/doc/refman/8.0/en/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712463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[10] Apache Software Foundation, “Apache POI Documentation.” https://poi.apache.org/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4480559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[11] Apache Software Foundation, “Apache PDFBox.” https://pdfbox.apache.org/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5248655"/>
            <a:ext cx="5230368" cy="6949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22303F"/>
                </a:solidFill>
                <a:latin typeface="Arial"/>
              </a:rPr>
              <a:t>[12] Google AI for Developers, “Gemini API Reference / Generating Content.” https://ai.google.dev/api/generate-content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6144768"/>
            <a:ext cx="292608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19" b="0" i="1">
                <a:solidFill>
                  <a:srgbClr val="5C6B7A"/>
                </a:solidFill>
                <a:latin typeface="Arial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2237</Words>
  <Application>Microsoft Office PowerPoint</Application>
  <PresentationFormat>Widescreen</PresentationFormat>
  <Paragraphs>447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gitesh sharma</cp:lastModifiedBy>
  <cp:revision>2</cp:revision>
  <dcterms:created xsi:type="dcterms:W3CDTF">2013-01-27T09:14:16Z</dcterms:created>
  <dcterms:modified xsi:type="dcterms:W3CDTF">2026-09-22T06:46:21Z</dcterms:modified>
  <cp:category/>
</cp:coreProperties>
</file>